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59" r:id="rId5"/>
    <p:sldId id="267" r:id="rId6"/>
    <p:sldId id="292" r:id="rId7"/>
    <p:sldId id="295" r:id="rId8"/>
    <p:sldId id="296" r:id="rId9"/>
    <p:sldId id="268" r:id="rId10"/>
    <p:sldId id="269" r:id="rId11"/>
    <p:sldId id="271" r:id="rId12"/>
    <p:sldId id="270" r:id="rId13"/>
    <p:sldId id="272" r:id="rId14"/>
    <p:sldId id="297" r:id="rId15"/>
    <p:sldId id="258" r:id="rId16"/>
    <p:sldId id="289" r:id="rId17"/>
    <p:sldId id="277" r:id="rId18"/>
    <p:sldId id="281" r:id="rId19"/>
    <p:sldId id="276" r:id="rId20"/>
    <p:sldId id="287" r:id="rId21"/>
    <p:sldId id="288" r:id="rId22"/>
    <p:sldId id="282" r:id="rId23"/>
    <p:sldId id="279" r:id="rId24"/>
    <p:sldId id="280" r:id="rId25"/>
    <p:sldId id="261" r:id="rId26"/>
    <p:sldId id="265" r:id="rId27"/>
    <p:sldId id="266" r:id="rId28"/>
    <p:sldId id="262" r:id="rId29"/>
    <p:sldId id="263" r:id="rId30"/>
    <p:sldId id="274" r:id="rId31"/>
    <p:sldId id="264" r:id="rId32"/>
    <p:sldId id="284" r:id="rId33"/>
    <p:sldId id="278" r:id="rId34"/>
    <p:sldId id="294" r:id="rId35"/>
    <p:sldId id="273" r:id="rId36"/>
    <p:sldId id="275" r:id="rId37"/>
    <p:sldId id="286" r:id="rId38"/>
    <p:sldId id="285" r:id="rId39"/>
    <p:sldId id="298" r:id="rId40"/>
    <p:sldId id="323" r:id="rId41"/>
    <p:sldId id="299" r:id="rId42"/>
    <p:sldId id="322" r:id="rId43"/>
    <p:sldId id="306" r:id="rId44"/>
    <p:sldId id="291" r:id="rId45"/>
    <p:sldId id="301" r:id="rId46"/>
    <p:sldId id="293" r:id="rId47"/>
    <p:sldId id="314" r:id="rId48"/>
    <p:sldId id="313" r:id="rId49"/>
    <p:sldId id="317" r:id="rId50"/>
    <p:sldId id="315" r:id="rId51"/>
    <p:sldId id="318" r:id="rId52"/>
    <p:sldId id="319" r:id="rId53"/>
    <p:sldId id="320" r:id="rId5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>
      <p:cViewPr varScale="1">
        <p:scale>
          <a:sx n="123" d="100"/>
          <a:sy n="123" d="100"/>
        </p:scale>
        <p:origin x="12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3" d="100"/>
        <a:sy n="73" d="100"/>
      </p:scale>
      <p:origin x="0" y="-21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79629-E19D-455A-A59D-BC9141D32166}" type="datetimeFigureOut">
              <a:rPr lang="es-ES" smtClean="0"/>
              <a:pPr/>
              <a:t>18/12/2025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61C10-2872-4609-85BD-353AAF54E58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probabilistas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probabilistas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000" dirty="0">
                <a:latin typeface="Arial" panose="020B0604020202020204" pitchFamily="34" charset="0"/>
                <a:cs typeface="Arial" panose="020B0604020202020204" pitchFamily="34" charset="0"/>
              </a:rPr>
              <a:t>Hay situaciones en las que puede resultar útil utilizar el azar en algoritmos:</a:t>
            </a:r>
          </a:p>
          <a:p>
            <a:pPr lvl="1"/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Encontrar eficientemente una solución correcta con un alto grado de probabilidad que, de otro modo, necesitaría mucho tiempo</a:t>
            </a:r>
          </a:p>
          <a:p>
            <a:pPr lvl="1"/>
            <a:r>
              <a:rPr lang="es-ES" sz="2600" dirty="0">
                <a:latin typeface="Arial" panose="020B0604020202020204" pitchFamily="34" charset="0"/>
                <a:cs typeface="Arial" panose="020B0604020202020204" pitchFamily="34" charset="0"/>
              </a:rPr>
              <a:t>Hacer el algoritmo menos dependiente de factores externos, aunque pase a depender del azar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probabilistas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Un algoritmo probabilista puede comportarse de forma distinta cuando se aplica varias veces a unos mismos datos de entrada: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Tiempo de ejecución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Resultado, incluso erróneo o sin terminar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Los comportamientos indeseados son admisibles si su probabilidad es baja: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Con frecuencia, dedicando más tiempo de ejecución se obtienen resultados mejores</a:t>
            </a:r>
          </a:p>
        </p:txBody>
      </p:sp>
    </p:spTree>
    <p:extLst>
      <p:ext uri="{BB962C8B-B14F-4D97-AF65-F5344CB8AC3E}">
        <p14:creationId xmlns:p14="http://schemas.microsoft.com/office/powerpoint/2010/main" val="327263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probabilistas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Se introduce el azar mediante números aleatorios: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Seleccionando al azar un candidato: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Puede repetirse una selección:</a:t>
            </a:r>
          </a:p>
          <a:p>
            <a:pPr lvl="3"/>
            <a:r>
              <a:rPr lang="es-ES" dirty="0">
                <a:latin typeface="Arial" pitchFamily="34" charset="0"/>
                <a:cs typeface="Arial" pitchFamily="34" charset="0"/>
              </a:rPr>
              <a:t>Cuando se sabe que el candidato seleccionado no es un buen candidato</a:t>
            </a:r>
          </a:p>
          <a:p>
            <a:pPr lvl="3"/>
            <a:r>
              <a:rPr lang="es-ES" dirty="0">
                <a:latin typeface="Arial" pitchFamily="34" charset="0"/>
                <a:cs typeface="Arial" pitchFamily="34" charset="0"/>
              </a:rPr>
              <a:t>Cuando el candidato seleccionado no produce ningún resultado o produce un mal resultado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Se repite la selección:</a:t>
            </a:r>
          </a:p>
          <a:p>
            <a:pPr lvl="3"/>
            <a:r>
              <a:rPr lang="es-ES" dirty="0">
                <a:latin typeface="Arial" pitchFamily="34" charset="0"/>
                <a:cs typeface="Arial" pitchFamily="34" charset="0"/>
              </a:rPr>
              <a:t>Para reducir la probabilidad de error o un mal resultado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Seleccionando al azar una muestra de candidatos de un conjunto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Números aleatorios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4948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Función necesaria en muchos algoritmos probabilistas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Dos formas de generar en Java:</a:t>
            </a:r>
          </a:p>
          <a:p>
            <a:pPr lvl="1"/>
            <a:r>
              <a:rPr lang="es-ES" dirty="0" err="1">
                <a:latin typeface="Arial" pitchFamily="34" charset="0"/>
                <a:cs typeface="Arial" pitchFamily="34" charset="0"/>
              </a:rPr>
              <a:t>Math.random</a:t>
            </a:r>
            <a:r>
              <a:rPr lang="es-ES" dirty="0">
                <a:latin typeface="Arial" pitchFamily="34" charset="0"/>
                <a:cs typeface="Arial" pitchFamily="34" charset="0"/>
              </a:rPr>
              <a:t>():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Número real comprendido entre 0 y 1 (excluido), del intervalo [0..1)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Tomar una decisión con probabilidad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p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marL="1562100" lvl="1" indent="0">
              <a:buNone/>
            </a:pPr>
            <a:r>
              <a:rPr lang="es-ES" sz="2000" dirty="0" err="1">
                <a:latin typeface="Arial" pitchFamily="34" charset="0"/>
                <a:cs typeface="Arial" pitchFamily="34" charset="0"/>
              </a:rPr>
              <a:t>if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 (</a:t>
            </a:r>
            <a:r>
              <a:rPr lang="es-ES" sz="2000" dirty="0" err="1">
                <a:latin typeface="Arial" pitchFamily="34" charset="0"/>
                <a:cs typeface="Arial" pitchFamily="34" charset="0"/>
              </a:rPr>
              <a:t>Math.random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() &lt; p) …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Clase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Random</a:t>
            </a:r>
            <a:r>
              <a:rPr lang="es-ES" dirty="0">
                <a:latin typeface="Arial" pitchFamily="34" charset="0"/>
                <a:cs typeface="Arial" pitchFamily="34" charset="0"/>
              </a:rPr>
              <a:t> en el paquete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java.util</a:t>
            </a:r>
            <a:endParaRPr lang="es-E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Números aleatorios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4948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Variantes en el rango de valores generados: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Números reales comprendidos entre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y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b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(excluido)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Números enteros entre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y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b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(incluidos)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Números naturales entre 1 y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b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(incluidos)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Valores booleanos</a:t>
            </a: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4716016" y="4077072"/>
            <a:ext cx="4214272" cy="11695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Véanse en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NumAleatorios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También, métodos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sorteoConRepes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sorteoSinRepes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6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43AC228-328B-EAB8-CBE8-A756F1CD3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Coloreado de un grafo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2A4B990-20D4-B9C0-3940-0ADF63AB3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 heurístico: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Se ordenan los nodos y los colores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Se toma un color y se intentan colorear todos los nodos posibles con el primer color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Se toma el siguiente color y se intentan colorear todos los nodos posibles aún no coloreados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Así sucesivamente hasta colorear todos los nodos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795279B-ECE3-E136-973A-C5B2331AD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Coloreado de un grafo</a:t>
            </a:r>
            <a:endParaRPr lang="es-ES" altLang="es-E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500610D-AB24-7236-D408-A6969AFEC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  <a:p>
            <a:pPr eaLnBrk="1" hangingPunct="1"/>
            <a:endParaRPr lang="es-ES" alt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s-ES" alt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s-ES" alt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Orden 0-2-3-1-4: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2 colores</a:t>
            </a:r>
          </a:p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Orden 0-4-1-2-3: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3 colores</a:t>
            </a:r>
          </a:p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 probabilista: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Reordenar los nodos de forma aleatoria</a:t>
            </a:r>
          </a:p>
        </p:txBody>
      </p:sp>
      <p:grpSp>
        <p:nvGrpSpPr>
          <p:cNvPr id="8196" name="29 Grupo">
            <a:extLst>
              <a:ext uri="{FF2B5EF4-FFF2-40B4-BE49-F238E27FC236}">
                <a16:creationId xmlns:a16="http://schemas.microsoft.com/office/drawing/2014/main" id="{4615963F-B55D-3871-88D4-9394A6252B3F}"/>
              </a:ext>
            </a:extLst>
          </p:cNvPr>
          <p:cNvGrpSpPr>
            <a:grpSpLocks/>
          </p:cNvGrpSpPr>
          <p:nvPr/>
        </p:nvGrpSpPr>
        <p:grpSpPr bwMode="auto">
          <a:xfrm>
            <a:off x="2803748" y="1646486"/>
            <a:ext cx="4000500" cy="2214562"/>
            <a:chOff x="2571736" y="2571744"/>
            <a:chExt cx="4000528" cy="2214578"/>
          </a:xfrm>
        </p:grpSpPr>
        <p:grpSp>
          <p:nvGrpSpPr>
            <p:cNvPr id="8197" name="23 Grupo">
              <a:extLst>
                <a:ext uri="{FF2B5EF4-FFF2-40B4-BE49-F238E27FC236}">
                  <a16:creationId xmlns:a16="http://schemas.microsoft.com/office/drawing/2014/main" id="{8CE07965-8602-2BC3-950A-DD8FBC0CCA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1736" y="2571744"/>
              <a:ext cx="3929090" cy="2214578"/>
              <a:chOff x="2571736" y="2571744"/>
              <a:chExt cx="3929090" cy="2214578"/>
            </a:xfrm>
          </p:grpSpPr>
          <p:grpSp>
            <p:nvGrpSpPr>
              <p:cNvPr id="8203" name="22 Grupo">
                <a:extLst>
                  <a:ext uri="{FF2B5EF4-FFF2-40B4-BE49-F238E27FC236}">
                    <a16:creationId xmlns:a16="http://schemas.microsoft.com/office/drawing/2014/main" id="{9DDBD6E5-AF47-B15C-8E63-109D6E6ECE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71736" y="2571744"/>
                <a:ext cx="3929090" cy="2214578"/>
                <a:chOff x="2571736" y="2571744"/>
                <a:chExt cx="3929090" cy="2214578"/>
              </a:xfrm>
            </p:grpSpPr>
            <p:sp>
              <p:nvSpPr>
                <p:cNvPr id="4" name="3 Elipse">
                  <a:extLst>
                    <a:ext uri="{FF2B5EF4-FFF2-40B4-BE49-F238E27FC236}">
                      <a16:creationId xmlns:a16="http://schemas.microsoft.com/office/drawing/2014/main" id="{B2A4ADE8-7DB2-8CC6-04DA-01576404B6CF}"/>
                    </a:ext>
                  </a:extLst>
                </p:cNvPr>
                <p:cNvSpPr/>
                <p:nvPr/>
              </p:nvSpPr>
              <p:spPr>
                <a:xfrm>
                  <a:off x="4786314" y="2571744"/>
                  <a:ext cx="785817" cy="78581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s-ES"/>
                </a:p>
              </p:txBody>
            </p:sp>
            <p:sp>
              <p:nvSpPr>
                <p:cNvPr id="5" name="4 Elipse">
                  <a:extLst>
                    <a:ext uri="{FF2B5EF4-FFF2-40B4-BE49-F238E27FC236}">
                      <a16:creationId xmlns:a16="http://schemas.microsoft.com/office/drawing/2014/main" id="{8F5C97BD-2C6E-827B-1CBE-3789F74738AE}"/>
                    </a:ext>
                  </a:extLst>
                </p:cNvPr>
                <p:cNvSpPr/>
                <p:nvPr/>
              </p:nvSpPr>
              <p:spPr>
                <a:xfrm>
                  <a:off x="2571736" y="3286124"/>
                  <a:ext cx="785818" cy="78581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s-ES"/>
                </a:p>
              </p:txBody>
            </p:sp>
            <p:sp>
              <p:nvSpPr>
                <p:cNvPr id="6" name="5 Elipse">
                  <a:extLst>
                    <a:ext uri="{FF2B5EF4-FFF2-40B4-BE49-F238E27FC236}">
                      <a16:creationId xmlns:a16="http://schemas.microsoft.com/office/drawing/2014/main" id="{CC59E739-131F-0812-24A6-4EB53CF0B7C3}"/>
                    </a:ext>
                  </a:extLst>
                </p:cNvPr>
                <p:cNvSpPr/>
                <p:nvPr/>
              </p:nvSpPr>
              <p:spPr>
                <a:xfrm>
                  <a:off x="3786182" y="3286124"/>
                  <a:ext cx="785817" cy="78581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s-ES"/>
                </a:p>
              </p:txBody>
            </p:sp>
            <p:sp>
              <p:nvSpPr>
                <p:cNvPr id="7" name="6 Elipse">
                  <a:extLst>
                    <a:ext uri="{FF2B5EF4-FFF2-40B4-BE49-F238E27FC236}">
                      <a16:creationId xmlns:a16="http://schemas.microsoft.com/office/drawing/2014/main" id="{7F4462C2-F87B-691E-1645-A2DDA836F3AC}"/>
                    </a:ext>
                  </a:extLst>
                </p:cNvPr>
                <p:cNvSpPr/>
                <p:nvPr/>
              </p:nvSpPr>
              <p:spPr>
                <a:xfrm>
                  <a:off x="5715008" y="3286124"/>
                  <a:ext cx="785818" cy="78581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s-ES"/>
                </a:p>
              </p:txBody>
            </p:sp>
            <p:sp>
              <p:nvSpPr>
                <p:cNvPr id="8" name="7 Elipse">
                  <a:extLst>
                    <a:ext uri="{FF2B5EF4-FFF2-40B4-BE49-F238E27FC236}">
                      <a16:creationId xmlns:a16="http://schemas.microsoft.com/office/drawing/2014/main" id="{D6692A25-1DD5-1E94-ECBE-04F15ED43599}"/>
                    </a:ext>
                  </a:extLst>
                </p:cNvPr>
                <p:cNvSpPr/>
                <p:nvPr/>
              </p:nvSpPr>
              <p:spPr>
                <a:xfrm>
                  <a:off x="4786314" y="4000504"/>
                  <a:ext cx="785817" cy="78581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es-ES"/>
                </a:p>
              </p:txBody>
            </p:sp>
          </p:grpSp>
          <p:grpSp>
            <p:nvGrpSpPr>
              <p:cNvPr id="8204" name="21 Grupo">
                <a:extLst>
                  <a:ext uri="{FF2B5EF4-FFF2-40B4-BE49-F238E27FC236}">
                    <a16:creationId xmlns:a16="http://schemas.microsoft.com/office/drawing/2014/main" id="{2F034E8A-CE0F-4C04-9418-18D384850D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7554" y="3143248"/>
                <a:ext cx="2500330" cy="1143008"/>
                <a:chOff x="3357554" y="3143248"/>
                <a:chExt cx="2500330" cy="1143008"/>
              </a:xfrm>
            </p:grpSpPr>
            <p:cxnSp>
              <p:nvCxnSpPr>
                <p:cNvPr id="10" name="9 Conector recto">
                  <a:extLst>
                    <a:ext uri="{FF2B5EF4-FFF2-40B4-BE49-F238E27FC236}">
                      <a16:creationId xmlns:a16="http://schemas.microsoft.com/office/drawing/2014/main" id="{CD15181E-2A5D-C5E8-CCF3-130093AE315D}"/>
                    </a:ext>
                  </a:extLst>
                </p:cNvPr>
                <p:cNvCxnSpPr>
                  <a:stCxn id="5" idx="6"/>
                  <a:endCxn id="6" idx="2"/>
                </p:cNvCxnSpPr>
                <p:nvPr/>
              </p:nvCxnSpPr>
              <p:spPr>
                <a:xfrm>
                  <a:off x="3357554" y="3679827"/>
                  <a:ext cx="428628" cy="15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11 Conector recto">
                  <a:extLst>
                    <a:ext uri="{FF2B5EF4-FFF2-40B4-BE49-F238E27FC236}">
                      <a16:creationId xmlns:a16="http://schemas.microsoft.com/office/drawing/2014/main" id="{7639BCA0-4AAF-8843-3403-E6F6C3C2FFDC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500562" y="3929066"/>
                  <a:ext cx="285752" cy="28575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13 Conector recto">
                  <a:extLst>
                    <a:ext uri="{FF2B5EF4-FFF2-40B4-BE49-F238E27FC236}">
                      <a16:creationId xmlns:a16="http://schemas.microsoft.com/office/drawing/2014/main" id="{F31B7BA4-FBA9-B011-D101-37CF505A78FF}"/>
                    </a:ext>
                  </a:extLst>
                </p:cNvPr>
                <p:cNvCxnSpPr/>
                <p:nvPr/>
              </p:nvCxnSpPr>
              <p:spPr>
                <a:xfrm rot="16200000" flipH="1">
                  <a:off x="5500694" y="3143248"/>
                  <a:ext cx="285752" cy="28575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16 Conector recto">
                  <a:extLst>
                    <a:ext uri="{FF2B5EF4-FFF2-40B4-BE49-F238E27FC236}">
                      <a16:creationId xmlns:a16="http://schemas.microsoft.com/office/drawing/2014/main" id="{37C83B6E-B805-6018-437B-6200FE271BF2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4500562" y="3143248"/>
                  <a:ext cx="285752" cy="28575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20 Conector recto">
                  <a:extLst>
                    <a:ext uri="{FF2B5EF4-FFF2-40B4-BE49-F238E27FC236}">
                      <a16:creationId xmlns:a16="http://schemas.microsoft.com/office/drawing/2014/main" id="{10298284-8906-EF1C-9BD8-721CBA1EF6F3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5572131" y="4000504"/>
                  <a:ext cx="285752" cy="28575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198" name="24 CuadroTexto">
              <a:extLst>
                <a:ext uri="{FF2B5EF4-FFF2-40B4-BE49-F238E27FC236}">
                  <a16:creationId xmlns:a16="http://schemas.microsoft.com/office/drawing/2014/main" id="{36C98063-E34D-19D8-2504-D73F1D609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050" y="3357562"/>
              <a:ext cx="64294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/>
                <a:t>0</a:t>
              </a:r>
            </a:p>
          </p:txBody>
        </p:sp>
        <p:sp>
          <p:nvSpPr>
            <p:cNvPr id="8199" name="25 CuadroTexto">
              <a:extLst>
                <a:ext uri="{FF2B5EF4-FFF2-40B4-BE49-F238E27FC236}">
                  <a16:creationId xmlns:a16="http://schemas.microsoft.com/office/drawing/2014/main" id="{97351BDB-FDD6-D186-BAC7-4FA7DCA38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628" y="4130109"/>
              <a:ext cx="64294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/>
                <a:t>3</a:t>
              </a:r>
            </a:p>
          </p:txBody>
        </p:sp>
        <p:sp>
          <p:nvSpPr>
            <p:cNvPr id="8200" name="26 CuadroTexto">
              <a:extLst>
                <a:ext uri="{FF2B5EF4-FFF2-40B4-BE49-F238E27FC236}">
                  <a16:creationId xmlns:a16="http://schemas.microsoft.com/office/drawing/2014/main" id="{18FFED17-0E68-46D4-A953-6BA6E89B0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0628" y="2701349"/>
              <a:ext cx="64294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/>
                <a:t>2</a:t>
              </a:r>
            </a:p>
          </p:txBody>
        </p:sp>
        <p:sp>
          <p:nvSpPr>
            <p:cNvPr id="8201" name="27 CuadroTexto">
              <a:extLst>
                <a:ext uri="{FF2B5EF4-FFF2-40B4-BE49-F238E27FC236}">
                  <a16:creationId xmlns:a16="http://schemas.microsoft.com/office/drawing/2014/main" id="{2CC89C3B-8EDE-EE51-26CA-BAA95A719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496" y="3357562"/>
              <a:ext cx="64294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/>
                <a:t>1</a:t>
              </a:r>
            </a:p>
          </p:txBody>
        </p:sp>
        <p:sp>
          <p:nvSpPr>
            <p:cNvPr id="8202" name="28 CuadroTexto">
              <a:extLst>
                <a:ext uri="{FF2B5EF4-FFF2-40B4-BE49-F238E27FC236}">
                  <a16:creationId xmlns:a16="http://schemas.microsoft.com/office/drawing/2014/main" id="{5F56219C-B6A3-5096-B2A5-E988226A3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9322" y="3357562"/>
              <a:ext cx="64294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ES"/>
                <a:t>4</a:t>
              </a:r>
            </a:p>
          </p:txBody>
        </p:sp>
      </p:grpSp>
      <p:sp>
        <p:nvSpPr>
          <p:cNvPr id="2" name="Text Box 10"/>
          <p:cNvSpPr txBox="1">
            <a:spLocks noChangeArrowheads="1"/>
          </p:cNvSpPr>
          <p:nvPr/>
        </p:nvSpPr>
        <p:spPr bwMode="auto">
          <a:xfrm>
            <a:off x="5364088" y="4365104"/>
            <a:ext cx="3678237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s-ES" altLang="es-ES" sz="2000" dirty="0"/>
              <a:t>Véase </a:t>
            </a:r>
            <a:r>
              <a:rPr lang="es-ES" altLang="es-ES" sz="2000" dirty="0" err="1"/>
              <a:t>coloreadoGrafoProb</a:t>
            </a:r>
            <a:r>
              <a:rPr lang="es-ES" altLang="es-ES" sz="2000" dirty="0"/>
              <a:t> y </a:t>
            </a:r>
            <a:r>
              <a:rPr lang="es-ES" altLang="es-ES" sz="2000" dirty="0" err="1"/>
              <a:t>coloreadoGrafoIter</a:t>
            </a:r>
            <a:r>
              <a:rPr lang="es-ES" altLang="es-ES" sz="2000" dirty="0"/>
              <a:t> en clase </a:t>
            </a:r>
            <a:r>
              <a:rPr lang="es-ES" altLang="es-ES" sz="2000" dirty="0" err="1"/>
              <a:t>ColoreadoGrafo</a:t>
            </a:r>
            <a:endParaRPr lang="es-ES" altLang="es-E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Números aleatorios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114948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Generador de números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pseudoaleatorios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Algoritmo determinista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 que genera series de números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,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s-ES" dirty="0">
                <a:latin typeface="Arial" pitchFamily="34" charset="0"/>
                <a:cs typeface="Arial" pitchFamily="34" charset="0"/>
              </a:rPr>
              <a:t>, …, </a:t>
            </a:r>
            <a:r>
              <a:rPr lang="es-ES" i="1" dirty="0" err="1">
                <a:latin typeface="Arial" pitchFamily="34" charset="0"/>
                <a:cs typeface="Arial" pitchFamily="34" charset="0"/>
              </a:rPr>
              <a:t>x</a:t>
            </a:r>
            <a:r>
              <a:rPr lang="es-ES" i="1" baseline="-25000" dirty="0" err="1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“aparentemente” aleatorios:</a:t>
            </a:r>
          </a:p>
          <a:p>
            <a:pPr lvl="2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i="1" baseline="-25000" dirty="0">
                <a:latin typeface="Arial" pitchFamily="34" charset="0"/>
                <a:cs typeface="Arial" pitchFamily="34" charset="0"/>
              </a:rPr>
              <a:t>i</a:t>
            </a:r>
            <a:r>
              <a:rPr lang="es-ES" dirty="0">
                <a:latin typeface="Arial" pitchFamily="34" charset="0"/>
                <a:cs typeface="Arial" pitchFamily="34" charset="0"/>
              </a:rPr>
              <a:t> =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i="1" baseline="-25000" dirty="0">
                <a:latin typeface="Arial" pitchFamily="34" charset="0"/>
                <a:cs typeface="Arial" pitchFamily="34" charset="0"/>
              </a:rPr>
              <a:t>i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-1</a:t>
            </a:r>
            <a:r>
              <a:rPr lang="es-ES" dirty="0">
                <a:latin typeface="Arial" pitchFamily="34" charset="0"/>
                <a:cs typeface="Arial" pitchFamily="34" charset="0"/>
              </a:rPr>
              <a:t>)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La serie comienza en un valor inicial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s </a:t>
            </a:r>
            <a:r>
              <a:rPr lang="es-ES" dirty="0">
                <a:latin typeface="Arial" pitchFamily="34" charset="0"/>
                <a:cs typeface="Arial" pitchFamily="34" charset="0"/>
              </a:rPr>
              <a:t>(“semilla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”</a:t>
            </a:r>
            <a:r>
              <a:rPr lang="es-ES" dirty="0">
                <a:latin typeface="Arial" pitchFamily="34" charset="0"/>
                <a:cs typeface="Arial" pitchFamily="34" charset="0"/>
              </a:rPr>
              <a:t>):</a:t>
            </a:r>
          </a:p>
          <a:p>
            <a:pPr lvl="2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 =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s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Pueden obtenerse series diferentes usando la hora como semilla</a:t>
            </a: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Números aleatorios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5114948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Generador de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Lehmer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= </a:t>
            </a:r>
            <a:r>
              <a:rPr lang="es-ES" i="1" dirty="0" err="1">
                <a:latin typeface="Arial" pitchFamily="34" charset="0"/>
                <a:cs typeface="Arial" pitchFamily="34" charset="0"/>
              </a:rPr>
              <a:t>a·x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m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Módulo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m</a:t>
            </a:r>
            <a:r>
              <a:rPr lang="es-ES" dirty="0">
                <a:latin typeface="Arial" pitchFamily="34" charset="0"/>
                <a:cs typeface="Arial" pitchFamily="34" charset="0"/>
              </a:rPr>
              <a:t>: número primo grande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Multiplicador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: entero del intervalo 2..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m</a:t>
            </a:r>
            <a:r>
              <a:rPr lang="es-ES" dirty="0">
                <a:latin typeface="Arial" pitchFamily="34" charset="0"/>
                <a:cs typeface="Arial" pitchFamily="34" charset="0"/>
              </a:rPr>
              <a:t>-1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Propiedad: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Al ser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m</a:t>
            </a:r>
            <a:r>
              <a:rPr lang="es-ES" dirty="0">
                <a:latin typeface="Arial" pitchFamily="34" charset="0"/>
                <a:cs typeface="Arial" pitchFamily="34" charset="0"/>
              </a:rPr>
              <a:t> primo,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</a:t>
            </a:r>
            <a:r>
              <a:rPr lang="es-ES" dirty="0">
                <a:latin typeface="Arial" pitchFamily="34" charset="0"/>
                <a:cs typeface="Arial" pitchFamily="34" charset="0"/>
                <a:sym typeface="Symbol"/>
              </a:rPr>
              <a:t>produce valores en 1..</a:t>
            </a:r>
            <a:r>
              <a:rPr lang="es-ES" i="1" dirty="0">
                <a:latin typeface="Arial" pitchFamily="34" charset="0"/>
                <a:cs typeface="Arial" pitchFamily="34" charset="0"/>
                <a:sym typeface="Symbol"/>
              </a:rPr>
              <a:t>m</a:t>
            </a:r>
            <a:r>
              <a:rPr lang="es-ES" dirty="0">
                <a:latin typeface="Arial" pitchFamily="34" charset="0"/>
                <a:cs typeface="Arial" pitchFamily="34" charset="0"/>
                <a:sym typeface="Symbol"/>
              </a:rPr>
              <a:t>-1</a:t>
            </a: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4932040" y="5029154"/>
            <a:ext cx="3854773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GeneradorAleatorio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Números aleatorios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5114948"/>
          </a:xfrm>
        </p:spPr>
        <p:txBody>
          <a:bodyPr>
            <a:normAutofit/>
          </a:bodyPr>
          <a:lstStyle/>
          <a:p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= 6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 mod 13:</a:t>
            </a:r>
          </a:p>
          <a:p>
            <a:pPr lvl="1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=1:   1, 6, 10, 8, 9, 2, 12, 7, 3, 5, 4, 11, 1, …</a:t>
            </a:r>
          </a:p>
          <a:p>
            <a:pPr lvl="1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=2:   2, 12, 7, 3, 5, 4, 11, 1, 6, 10, 8, 9, 2, …</a:t>
            </a:r>
          </a:p>
          <a:p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= 7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 mod 13:</a:t>
            </a:r>
          </a:p>
          <a:p>
            <a:pPr lvl="1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=1:   1, 7, 10, 5, 9, 11, 12, 6, 3, 8, 4, 2, 1, …</a:t>
            </a:r>
          </a:p>
          <a:p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= 5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dirty="0">
                <a:latin typeface="Arial" pitchFamily="34" charset="0"/>
                <a:cs typeface="Arial" pitchFamily="34" charset="0"/>
              </a:rPr>
              <a:t> 13:</a:t>
            </a:r>
          </a:p>
          <a:p>
            <a:pPr lvl="1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=1:   1, 5, 12, 8, 1, …</a:t>
            </a:r>
          </a:p>
          <a:p>
            <a:pPr lvl="1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=2:   2, 10, 11, 3, 2, …</a:t>
            </a:r>
          </a:p>
          <a:p>
            <a:pPr lvl="1"/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s-ES" dirty="0">
                <a:latin typeface="Arial" pitchFamily="34" charset="0"/>
                <a:cs typeface="Arial" pitchFamily="34" charset="0"/>
              </a:rPr>
              <a:t>=4:   4, 7, 9, 6, 4, …</a:t>
            </a: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Números aleatorios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5114948"/>
          </a:xfrm>
        </p:spPr>
        <p:txBody>
          <a:bodyPr>
            <a:normAutofit lnSpcReduction="1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Propiedades esperables de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)=</a:t>
            </a:r>
            <a:r>
              <a:rPr lang="es-ES" i="1" dirty="0" err="1">
                <a:latin typeface="Arial" pitchFamily="34" charset="0"/>
                <a:cs typeface="Arial" pitchFamily="34" charset="0"/>
              </a:rPr>
              <a:t>a·x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m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Función generadora de periodo completo: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Para cualquier módulo primo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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3, un porcentaje destacado de las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-2 posibles opciones de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producen una función generadora de periodo completo</a:t>
            </a:r>
          </a:p>
          <a:p>
            <a:pPr lvl="2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=13, los multiplicadores de periodo completo son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= 2, 6, 7, 11, y para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=2</a:t>
            </a:r>
            <a:r>
              <a:rPr lang="es-ES" baseline="30000" dirty="0"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-1, hay más de 534 millones, p.ej.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 = 16.807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La secuencia generada es “aleatoria”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Puede implementarse eficientemente, p.ej. en aritmética de 32 bits</a:t>
            </a: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Números aleatorios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4829180" cy="5114948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Funciones generadoras recomendadas:</a:t>
            </a:r>
          </a:p>
          <a:p>
            <a:pPr lvl="1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2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-1 = 2.147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483.647,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7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= 16.807</a:t>
            </a:r>
          </a:p>
          <a:p>
            <a:pPr lvl="1"/>
            <a:r>
              <a:rPr lang="en-US" sz="2400" dirty="0">
                <a:latin typeface="Arial" pitchFamily="34" charset="0"/>
                <a:cs typeface="Arial" pitchFamily="34" charset="0"/>
              </a:rPr>
              <a:t>Para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valores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menores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m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</a:t>
            </a:r>
            <a:endParaRPr lang="es-ES" sz="2400" dirty="0">
              <a:latin typeface="Arial" pitchFamily="34" charset="0"/>
              <a:cs typeface="Arial" pitchFamily="34" charset="0"/>
            </a:endParaRPr>
          </a:p>
          <a:p>
            <a:pPr lvl="1">
              <a:buNone/>
            </a:pPr>
            <a:endParaRPr lang="es-E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5286380" y="2643182"/>
          <a:ext cx="350046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Rango de </a:t>
                      </a:r>
                      <a:r>
                        <a:rPr lang="es-ES" sz="2400" i="1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i="1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i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10-20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20-50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50-100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100-200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200-500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467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500-1.000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797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1.000-2.000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1.013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2.000-4.096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2.027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24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probabilistas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Clases de algoritmos probabilistas: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Algoritmos numéricos: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Dan con probabilidad alta un resultado correcto dentro de un intervalo de confianza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Incluirían los algoritmos de búsqueda local repetida:</a:t>
            </a:r>
          </a:p>
          <a:p>
            <a:pPr lvl="3"/>
            <a:r>
              <a:rPr lang="es-ES" dirty="0">
                <a:latin typeface="Arial" pitchFamily="34" charset="0"/>
                <a:cs typeface="Arial" pitchFamily="34" charset="0"/>
              </a:rPr>
              <a:t>Buscan aleatoriamente óptimos locales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Algoritmos de Monte Carlo: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Dan con probabilidad alta el resultado correcto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Algoritmos de Las Vegas: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Nunca dan un resultado incorrecto, aunque podrían no dar una respuesta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La aleatorización se utiliza para mejorar su rendimiento temporal</a:t>
            </a:r>
          </a:p>
        </p:txBody>
      </p:sp>
    </p:spTree>
    <p:extLst>
      <p:ext uri="{BB962C8B-B14F-4D97-AF65-F5344CB8AC3E}">
        <p14:creationId xmlns:p14="http://schemas.microsoft.com/office/powerpoint/2010/main" val="34940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probabilistas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4948"/>
          </a:xfrm>
        </p:spPr>
        <p:txBody>
          <a:bodyPr>
            <a:normAutofit lnSpcReduction="1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Ejemplo (irreal pero ilustrativo):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Calcular el año de descubrimiento de América por Colón: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Algoritmo numérico:</a:t>
            </a:r>
          </a:p>
          <a:p>
            <a:pPr lvl="3"/>
            <a:r>
              <a:rPr lang="es-ES" b="1" dirty="0">
                <a:latin typeface="Arial" pitchFamily="34" charset="0"/>
                <a:cs typeface="Arial" pitchFamily="34" charset="0"/>
              </a:rPr>
              <a:t>entre 1490 y 1500</a:t>
            </a:r>
          </a:p>
          <a:p>
            <a:pPr lvl="3"/>
            <a:r>
              <a:rPr lang="es-ES" b="1" dirty="0">
                <a:latin typeface="Arial" pitchFamily="34" charset="0"/>
                <a:cs typeface="Arial" pitchFamily="34" charset="0"/>
              </a:rPr>
              <a:t>entre 1485 y 1495</a:t>
            </a:r>
          </a:p>
          <a:p>
            <a:pPr lvl="3"/>
            <a:r>
              <a:rPr lang="es-ES" b="1" dirty="0">
                <a:latin typeface="Arial" pitchFamily="34" charset="0"/>
                <a:cs typeface="Arial" pitchFamily="34" charset="0"/>
              </a:rPr>
              <a:t>entre 1491 y 1501</a:t>
            </a:r>
          </a:p>
          <a:p>
            <a:pPr lvl="3"/>
            <a:r>
              <a:rPr lang="es-ES" dirty="0">
                <a:latin typeface="Arial" pitchFamily="34" charset="0"/>
                <a:cs typeface="Arial" pitchFamily="34" charset="0"/>
              </a:rPr>
              <a:t>entre 1480 y 1490</a:t>
            </a:r>
          </a:p>
          <a:p>
            <a:pPr lvl="3"/>
            <a:r>
              <a:rPr lang="es-ES" b="1" dirty="0">
                <a:latin typeface="Arial" pitchFamily="34" charset="0"/>
                <a:cs typeface="Arial" pitchFamily="34" charset="0"/>
              </a:rPr>
              <a:t>entre 1489 y 1499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Algoritmo de Monte Carlo:</a:t>
            </a:r>
          </a:p>
          <a:p>
            <a:pPr lvl="3"/>
            <a:r>
              <a:rPr lang="es-ES" b="1" dirty="0">
                <a:latin typeface="Arial" pitchFamily="34" charset="0"/>
                <a:cs typeface="Arial" pitchFamily="34" charset="0"/>
              </a:rPr>
              <a:t>1492, 1492, 1492, </a:t>
            </a:r>
            <a:r>
              <a:rPr lang="es-ES" dirty="0">
                <a:latin typeface="Arial" pitchFamily="34" charset="0"/>
                <a:cs typeface="Arial" pitchFamily="34" charset="0"/>
              </a:rPr>
              <a:t>1491, </a:t>
            </a:r>
            <a:r>
              <a:rPr lang="es-ES" b="1" dirty="0">
                <a:latin typeface="Arial" pitchFamily="34" charset="0"/>
                <a:cs typeface="Arial" pitchFamily="34" charset="0"/>
              </a:rPr>
              <a:t>1492, 1492, </a:t>
            </a:r>
            <a:r>
              <a:rPr lang="es-ES" dirty="0">
                <a:latin typeface="Arial" pitchFamily="34" charset="0"/>
                <a:cs typeface="Arial" pitchFamily="34" charset="0"/>
              </a:rPr>
              <a:t>357 a.C., </a:t>
            </a:r>
            <a:r>
              <a:rPr lang="es-ES" b="1" dirty="0">
                <a:latin typeface="Arial" pitchFamily="34" charset="0"/>
                <a:cs typeface="Arial" pitchFamily="34" charset="0"/>
              </a:rPr>
              <a:t>1492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Algoritmo de Las Vegas:</a:t>
            </a:r>
          </a:p>
          <a:p>
            <a:pPr lvl="3"/>
            <a:r>
              <a:rPr lang="es-ES" b="1" dirty="0">
                <a:latin typeface="Arial" pitchFamily="34" charset="0"/>
                <a:cs typeface="Arial" pitchFamily="34" charset="0"/>
              </a:rPr>
              <a:t>1492, 1492, </a:t>
            </a:r>
            <a:r>
              <a:rPr lang="es-ES" dirty="0">
                <a:latin typeface="Arial" pitchFamily="34" charset="0"/>
                <a:cs typeface="Arial" pitchFamily="34" charset="0"/>
              </a:rPr>
              <a:t>¿?, </a:t>
            </a:r>
            <a:r>
              <a:rPr lang="es-ES" b="1" dirty="0">
                <a:latin typeface="Arial" pitchFamily="34" charset="0"/>
                <a:cs typeface="Arial" pitchFamily="34" charset="0"/>
              </a:rPr>
              <a:t>1492, 1492, 1492, 1492, 1492, </a:t>
            </a:r>
            <a:r>
              <a:rPr lang="es-ES" dirty="0">
                <a:latin typeface="Arial" pitchFamily="34" charset="0"/>
                <a:cs typeface="Arial" pitchFamily="34" charset="0"/>
              </a:rPr>
              <a:t>¿?, </a:t>
            </a:r>
            <a:r>
              <a:rPr lang="es-ES" b="1" dirty="0">
                <a:latin typeface="Arial" pitchFamily="34" charset="0"/>
                <a:cs typeface="Arial" pitchFamily="34" charset="0"/>
              </a:rPr>
              <a:t>1492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numéricos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5043510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Integración: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La integral </a:t>
            </a:r>
            <a:r>
              <a:rPr lang="es-ES" dirty="0">
                <a:latin typeface="Bodoni MT" panose="02070603080606020203" pitchFamily="18" charset="0"/>
                <a:cs typeface="Courier New" panose="02070309020205020404" pitchFamily="49" charset="0"/>
              </a:rPr>
              <a:t>I</a:t>
            </a:r>
            <a:r>
              <a:rPr lang="es-ES" dirty="0">
                <a:latin typeface="Arial" pitchFamily="34" charset="0"/>
                <a:cs typeface="Arial" pitchFamily="34" charset="0"/>
              </a:rPr>
              <a:t>=               da la superficie comprendida entre la curva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y</a:t>
            </a:r>
            <a:r>
              <a:rPr lang="es-ES" dirty="0">
                <a:latin typeface="Arial" pitchFamily="34" charset="0"/>
                <a:cs typeface="Arial" pitchFamily="34" charset="0"/>
              </a:rPr>
              <a:t>=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), el eje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 y las líneas verticales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=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 y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=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b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 área de la integral es igual a un rectángulo de base 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b</a:t>
            </a:r>
            <a:r>
              <a:rPr lang="es-ES" dirty="0">
                <a:latin typeface="Arial" pitchFamily="34" charset="0"/>
                <a:cs typeface="Arial" pitchFamily="34" charset="0"/>
              </a:rPr>
              <a:t>-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) y altura </a:t>
            </a:r>
            <a:r>
              <a:rPr lang="es-ES" dirty="0">
                <a:latin typeface="Bodoni MT" panose="02070603080606020203" pitchFamily="18" charset="0"/>
                <a:cs typeface="Courier New" panose="02070309020205020404" pitchFamily="49" charset="0"/>
              </a:rPr>
              <a:t>I</a:t>
            </a:r>
            <a:r>
              <a:rPr lang="es-ES" dirty="0">
                <a:latin typeface="Arial" pitchFamily="34" charset="0"/>
                <a:cs typeface="Arial" pitchFamily="34" charset="0"/>
              </a:rPr>
              <a:t>/(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b</a:t>
            </a:r>
            <a:r>
              <a:rPr lang="es-ES" dirty="0">
                <a:latin typeface="Arial" pitchFamily="34" charset="0"/>
                <a:cs typeface="Arial" pitchFamily="34" charset="0"/>
              </a:rPr>
              <a:t>-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)</a:t>
            </a: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786955"/>
              </p:ext>
            </p:extLst>
          </p:nvPr>
        </p:nvGraphicFramePr>
        <p:xfrm>
          <a:off x="3359264" y="2022810"/>
          <a:ext cx="1428760" cy="75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622080" imgH="330120" progId="Equation.3">
                  <p:embed/>
                </p:oleObj>
              </mc:Choice>
              <mc:Fallback>
                <p:oleObj name="Ecuación" r:id="rId2" imgW="622080" imgH="330120" progId="Equation.3">
                  <p:embed/>
                  <p:pic>
                    <p:nvPicPr>
                      <p:cNvPr id="4" name="3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264" y="2022810"/>
                        <a:ext cx="1428760" cy="7581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6643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numéricos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79512" y="1600200"/>
            <a:ext cx="4839517" cy="4983162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 probabilista: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Aproximación mediante suma de áreas, usando puntos distribuidos regularmente: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La integral </a:t>
            </a:r>
            <a:r>
              <a:rPr lang="es-ES" dirty="0">
                <a:latin typeface="Bodoni MT" panose="02070603080606020203" pitchFamily="18" charset="0"/>
                <a:cs typeface="Arial" pitchFamily="34" charset="0"/>
              </a:rPr>
              <a:t>I</a:t>
            </a:r>
            <a:r>
              <a:rPr lang="es-ES" dirty="0">
                <a:latin typeface="Arial" pitchFamily="34" charset="0"/>
                <a:cs typeface="Arial" pitchFamily="34" charset="0"/>
              </a:rPr>
              <a:t> puede calcularse probabilistamente usando la altura de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en algún punto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Se generan aleatoriamente diversos puntos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Media de las áreas correspondientes</a:t>
            </a: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6228184" y="5373216"/>
            <a:ext cx="2574019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clase Integrar, para </a:t>
            </a:r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)=</a:t>
            </a:r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7" name="4 Imagen" descr="Integrales. Cálculo áreas 7.jpg">
            <a:extLst>
              <a:ext uri="{FF2B5EF4-FFF2-40B4-BE49-F238E27FC236}">
                <a16:creationId xmlns:a16="http://schemas.microsoft.com/office/drawing/2014/main" id="{4DC9ADE3-D5FA-35F4-205F-40CDD3C999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2702" y="1556792"/>
            <a:ext cx="4017467" cy="2414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numéricos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Comparación entre ambos algoritmos: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 algoritmo probabilista es: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menos preciso (requiere más puntos de muestreo) y menos eficiente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menos sensible a las características de la función a integrar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Para integrales múltiples, el algoritmo probabilista requiere menos puntos de muestreo que el algoritmo determinista: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Se utiliza con 4 o más variables</a:t>
            </a:r>
          </a:p>
        </p:txBody>
      </p:sp>
    </p:spTree>
    <p:extLst>
      <p:ext uri="{BB962C8B-B14F-4D97-AF65-F5344CB8AC3E}">
        <p14:creationId xmlns:p14="http://schemas.microsoft.com/office/powerpoint/2010/main" val="3939013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de Monte Carlo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043510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Comprobación de la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primidad</a:t>
            </a:r>
            <a:r>
              <a:rPr lang="es-ES" dirty="0">
                <a:latin typeface="Arial" pitchFamily="34" charset="0"/>
                <a:cs typeface="Arial" pitchFamily="34" charset="0"/>
              </a:rPr>
              <a:t> de un número: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Problema importante en criptografía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Teorema de Fermat (no siempre cierto):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Si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es primo, entonces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i="1" baseline="30000" dirty="0">
                <a:latin typeface="Arial" pitchFamily="34" charset="0"/>
                <a:cs typeface="Arial" pitchFamily="34" charset="0"/>
              </a:rPr>
              <a:t>n</a:t>
            </a:r>
            <a:r>
              <a:rPr lang="es-ES" baseline="30000" dirty="0">
                <a:latin typeface="Arial" pitchFamily="34" charset="0"/>
                <a:cs typeface="Arial" pitchFamily="34" charset="0"/>
              </a:rPr>
              <a:t>-1</a:t>
            </a:r>
            <a:r>
              <a:rPr lang="es-ES" dirty="0">
                <a:latin typeface="Arial" pitchFamily="34" charset="0"/>
                <a:cs typeface="Arial" pitchFamily="34" charset="0"/>
              </a:rPr>
              <a:t>mod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= 1 para cualquier entero 1</a:t>
            </a:r>
            <a:r>
              <a:rPr lang="es-ES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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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-1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Por ejemplo, para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=7:</a:t>
            </a:r>
          </a:p>
          <a:p>
            <a:pPr lvl="2"/>
            <a:r>
              <a:rPr lang="es-ES" sz="2200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=4: 4</a:t>
            </a:r>
            <a:r>
              <a:rPr lang="es-ES" sz="2200" baseline="30000" dirty="0">
                <a:latin typeface="Arial" pitchFamily="34" charset="0"/>
                <a:cs typeface="Arial" pitchFamily="34" charset="0"/>
              </a:rPr>
              <a:t>7-1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200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 7 = 4.096 </a:t>
            </a:r>
            <a:r>
              <a:rPr lang="es-ES" sz="2200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 7 = (585</a:t>
            </a:r>
            <a:r>
              <a:rPr lang="es-ES" sz="22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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7+1) </a:t>
            </a:r>
            <a:r>
              <a:rPr lang="es-ES" sz="2200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 7 = 1</a:t>
            </a:r>
          </a:p>
          <a:p>
            <a:pPr lvl="2"/>
            <a:r>
              <a:rPr lang="es-ES" sz="2200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=5: 5</a:t>
            </a:r>
            <a:r>
              <a:rPr lang="es-ES" sz="2200" baseline="30000" dirty="0">
                <a:latin typeface="Arial" pitchFamily="34" charset="0"/>
                <a:cs typeface="Arial" pitchFamily="34" charset="0"/>
              </a:rPr>
              <a:t>7-1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 mod 7 = 15.625 mod 7 = (2.232</a:t>
            </a:r>
            <a:r>
              <a:rPr lang="es-ES" sz="2200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</a:t>
            </a:r>
            <a:r>
              <a:rPr lang="es-ES" sz="2200" dirty="0">
                <a:latin typeface="Arial" pitchFamily="34" charset="0"/>
                <a:cs typeface="Arial" pitchFamily="34" charset="0"/>
              </a:rPr>
              <a:t>7+1) mod 7 =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de Monte Carlo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5043510"/>
          </a:xfrm>
        </p:spPr>
        <p:txBody>
          <a:bodyPr>
            <a:normAutofit lnSpcReduction="1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Teorema de Fermat (no siempre cierto):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Si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es primo, entonces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i="1" baseline="30000" dirty="0">
                <a:latin typeface="Arial" pitchFamily="34" charset="0"/>
                <a:cs typeface="Arial" pitchFamily="34" charset="0"/>
              </a:rPr>
              <a:t>n</a:t>
            </a:r>
            <a:r>
              <a:rPr lang="es-ES" baseline="30000" dirty="0">
                <a:latin typeface="Arial" pitchFamily="34" charset="0"/>
                <a:cs typeface="Arial" pitchFamily="34" charset="0"/>
              </a:rPr>
              <a:t>-1</a:t>
            </a:r>
            <a:r>
              <a:rPr lang="es-ES" dirty="0">
                <a:latin typeface="Arial" pitchFamily="34" charset="0"/>
                <a:cs typeface="Arial" pitchFamily="34" charset="0"/>
              </a:rPr>
              <a:t>mod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= 1 para cualquier entero 1</a:t>
            </a:r>
            <a:r>
              <a:rPr lang="es-ES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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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-1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Algoritmo de Monte Carlo: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Si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 es un entero 1</a:t>
            </a:r>
            <a:r>
              <a:rPr lang="es-ES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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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-1 tal que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i="1" baseline="30000" dirty="0">
                <a:latin typeface="Arial" pitchFamily="34" charset="0"/>
                <a:cs typeface="Arial" pitchFamily="34" charset="0"/>
              </a:rPr>
              <a:t>n</a:t>
            </a:r>
            <a:r>
              <a:rPr lang="es-ES" baseline="30000" dirty="0">
                <a:latin typeface="Arial" pitchFamily="34" charset="0"/>
                <a:cs typeface="Arial" pitchFamily="34" charset="0"/>
              </a:rPr>
              <a:t>-1</a:t>
            </a:r>
            <a:r>
              <a:rPr lang="es-ES" dirty="0">
                <a:latin typeface="Arial" pitchFamily="34" charset="0"/>
                <a:cs typeface="Arial" pitchFamily="34" charset="0"/>
              </a:rPr>
              <a:t>mod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</a:t>
            </a:r>
            <a:r>
              <a:rPr lang="es-ES" dirty="0">
                <a:latin typeface="Arial" pitchFamily="34" charset="0"/>
                <a:cs typeface="Arial" pitchFamily="34" charset="0"/>
              </a:rPr>
              <a:t>1, entonces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no es primo: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Si devuelve “falso”, no es primo, pero puede fallar con resultados “cierto” (falsos positivos o falsos testigos)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Conveniente calcular </a:t>
            </a:r>
            <a:r>
              <a:rPr lang="es-ES" i="1" dirty="0" err="1">
                <a:latin typeface="Arial" pitchFamily="34" charset="0"/>
                <a:cs typeface="Arial" pitchFamily="34" charset="0"/>
              </a:rPr>
              <a:t>a</a:t>
            </a:r>
            <a:r>
              <a:rPr lang="es-ES" i="1" baseline="30000" dirty="0" err="1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mod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z</a:t>
            </a:r>
            <a:r>
              <a:rPr lang="es-ES" dirty="0">
                <a:latin typeface="Arial" pitchFamily="34" charset="0"/>
                <a:cs typeface="Arial" pitchFamily="34" charset="0"/>
              </a:rPr>
              <a:t> sin crear números muy grandes</a:t>
            </a: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6156176" y="5927057"/>
            <a:ext cx="2952328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SiPrimos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método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esPrimoFermat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33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de Monte Carlo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5043510"/>
          </a:xfrm>
        </p:spPr>
        <p:txBody>
          <a:bodyPr>
            <a:normAutofit fontScale="92500" lnSpcReduction="2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Puede reducirse la probabilidad de encontrar testigos falsos con una modificación: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Sean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s</a:t>
            </a:r>
            <a:r>
              <a:rPr lang="es-ES" dirty="0">
                <a:latin typeface="Arial" pitchFamily="34" charset="0"/>
                <a:cs typeface="Arial" pitchFamily="34" charset="0"/>
              </a:rPr>
              <a:t> y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t</a:t>
            </a:r>
            <a:r>
              <a:rPr lang="es-ES" dirty="0">
                <a:latin typeface="Arial" pitchFamily="34" charset="0"/>
                <a:cs typeface="Arial" pitchFamily="34" charset="0"/>
              </a:rPr>
              <a:t> enteros tales que 2</a:t>
            </a:r>
            <a:r>
              <a:rPr lang="es-ES" i="1" baseline="30000" dirty="0">
                <a:latin typeface="Arial" pitchFamily="34" charset="0"/>
                <a:cs typeface="Arial" pitchFamily="34" charset="0"/>
              </a:rPr>
              <a:t>s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t</a:t>
            </a:r>
            <a:r>
              <a:rPr lang="es-ES" dirty="0">
                <a:latin typeface="Arial" pitchFamily="34" charset="0"/>
                <a:cs typeface="Arial" pitchFamily="34" charset="0"/>
              </a:rPr>
              <a:t>=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-1. </a:t>
            </a:r>
            <a:r>
              <a:rPr lang="es-ES">
                <a:latin typeface="Arial" pitchFamily="34" charset="0"/>
                <a:cs typeface="Arial" pitchFamily="34" charset="0"/>
              </a:rPr>
              <a:t>Se define B(</a:t>
            </a:r>
            <a:r>
              <a:rPr lang="es-ES" i="1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) = {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 | 2≤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≤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-2} y:</a:t>
            </a:r>
          </a:p>
          <a:p>
            <a:pPr lvl="2"/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i="1" baseline="30000" dirty="0">
                <a:latin typeface="Arial" pitchFamily="34" charset="0"/>
                <a:cs typeface="Arial" pitchFamily="34" charset="0"/>
              </a:rPr>
              <a:t>t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= 1, o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existe 0≤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i</a:t>
            </a:r>
            <a:r>
              <a:rPr lang="es-ES" dirty="0">
                <a:latin typeface="Arial" pitchFamily="34" charset="0"/>
                <a:cs typeface="Arial" pitchFamily="34" charset="0"/>
              </a:rPr>
              <a:t>&lt;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s</a:t>
            </a:r>
            <a:r>
              <a:rPr lang="es-ES" dirty="0">
                <a:latin typeface="Arial" pitchFamily="34" charset="0"/>
                <a:cs typeface="Arial" pitchFamily="34" charset="0"/>
              </a:rPr>
              <a:t> tal que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s-ES" sz="2000" i="1" baseline="50000" dirty="0">
                <a:latin typeface="Arial" pitchFamily="34" charset="0"/>
                <a:cs typeface="Arial" pitchFamily="34" charset="0"/>
              </a:rPr>
              <a:t>i</a:t>
            </a:r>
            <a:r>
              <a:rPr lang="es-ES" i="1" baseline="30000" dirty="0">
                <a:latin typeface="Arial" pitchFamily="34" charset="0"/>
                <a:cs typeface="Arial" pitchFamily="34" charset="0"/>
              </a:rPr>
              <a:t>t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mod</a:t>
            </a:r>
            <a:r>
              <a:rPr lang="es-ES" dirty="0">
                <a:latin typeface="Arial" pitchFamily="34" charset="0"/>
                <a:cs typeface="Arial" pitchFamily="34" charset="0"/>
              </a:rPr>
              <a:t>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=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-1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Si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es primo, B(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) = {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 | 2≤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≤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-2}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Si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no es primo, |B(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)| ≤ 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-9)/4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La comprobación de Miller-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Rabin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siempre devuelve el valor “cierto” para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primo &gt; 4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devuelve “falso” con probabilidad mayor a ¾ cuando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 es un entero impar compuesto &gt; 4 y se selecciona aleatoriamente un 2≤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a</a:t>
            </a:r>
            <a:r>
              <a:rPr lang="es-ES" dirty="0">
                <a:latin typeface="Arial" pitchFamily="34" charset="0"/>
                <a:cs typeface="Arial" pitchFamily="34" charset="0"/>
              </a:rPr>
              <a:t>≤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dirty="0">
                <a:latin typeface="Arial" pitchFamily="34" charset="0"/>
                <a:cs typeface="Arial" pitchFamily="34" charset="0"/>
              </a:rPr>
              <a:t>-2</a:t>
            </a: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5724128" y="5935824"/>
            <a:ext cx="3312368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SiPrimos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método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esPrimoMillerRabin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68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Algoritmos de Las Vegas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 fontScale="85000" lnSpcReduction="1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Objetivo: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Mejorar el rendimiento temporal de un algoritmo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Dos formas principales: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Resolver eficientemente un algoritmo determinista ineficiente mediante decisiones aleatorias: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Puede terminar sin solución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Ejemplo: n-reinas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Eliminar el comportamiento ineficiente del algoritmo determinista en el caso peor, sustituyéndolo por un comportamiento esperado más eficiente en ese caso: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Puede ser menos eficiente en media (efecto “Robin Hood”: “roban” tiempo de los casos “ricos” para dárselo a los “pobres”)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Ejemplo: ordenación rápida</a:t>
            </a:r>
          </a:p>
        </p:txBody>
      </p:sp>
    </p:spTree>
    <p:extLst>
      <p:ext uri="{BB962C8B-B14F-4D97-AF65-F5344CB8AC3E}">
        <p14:creationId xmlns:p14="http://schemas.microsoft.com/office/powerpoint/2010/main" val="2335783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N reinas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Árbol de búsqueda (de permutación, 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=4):</a:t>
            </a:r>
          </a:p>
        </p:txBody>
      </p:sp>
      <p:pic>
        <p:nvPicPr>
          <p:cNvPr id="17412" name="Picture 11" descr="4ReinasAdB recortad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32025"/>
            <a:ext cx="7921625" cy="444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9973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N reinas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Árbol de búsqueda generado (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=4):</a:t>
            </a:r>
          </a:p>
        </p:txBody>
      </p:sp>
      <p:pic>
        <p:nvPicPr>
          <p:cNvPr id="18436" name="Picture 6" descr="4ReinasAdBG recortad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160588"/>
            <a:ext cx="7632700" cy="456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8182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 reinas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En cada columna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i</a:t>
            </a:r>
            <a:r>
              <a:rPr lang="es-ES" dirty="0">
                <a:latin typeface="Arial" pitchFamily="34" charset="0"/>
                <a:cs typeface="Arial" pitchFamily="34" charset="0"/>
              </a:rPr>
              <a:t> del tablero: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 algoritmo de vuelta atrás determinista prueba con todas las posibles filas válidas donde colocar la reina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i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 algoritmo de Las Vegas elige aleatoriamente una de las posibles filas válidas donde colocar la reina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i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Algoritmo heurístico</a:t>
            </a: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4644008" y="5326856"/>
            <a:ext cx="4285710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n_reinasProbabilistaInseguro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de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N_reinas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4692703" y="2920653"/>
            <a:ext cx="431654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n_reinasProbabilistaSeguro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de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N_reinas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 reinas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069160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Un algoritmo probabilista inseguro puede convertirse en un algoritmo seguro: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Iterando hasta encontrar una solución válida</a:t>
            </a:r>
          </a:p>
          <a:p>
            <a:endParaRPr lang="es-ES" sz="2800" dirty="0">
              <a:latin typeface="Arial" pitchFamily="34" charset="0"/>
              <a:cs typeface="Arial" pitchFamily="34" charset="0"/>
            </a:endParaRPr>
          </a:p>
          <a:p>
            <a:r>
              <a:rPr lang="es-ES" sz="2800" dirty="0">
                <a:latin typeface="Arial" pitchFamily="34" charset="0"/>
                <a:cs typeface="Arial" pitchFamily="34" charset="0"/>
              </a:rPr>
              <a:t>A veces, puede diseñarse un algoritmo mixto probabilista-vuelta atrás: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Toma aleatoriamente las primeras decisiones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Completa el resto de la solución mediante vuelta atrás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Si es inseguro, puede convertirse en seguro iterando hasta encontrar una solución válida</a:t>
            </a: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4696183" y="5417929"/>
            <a:ext cx="4316542" cy="13234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Véanse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n_reinasProbabilistaMixtoInseguro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n_reinasProbabilistaMixtoSeguro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de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N_reinas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Rendimiento de los algoritmos probabilistas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5114948"/>
          </a:xfrm>
        </p:spPr>
        <p:txBody>
          <a:bodyPr>
            <a:normAutofit fontScale="925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Tiempo medio de un algoritmo determinista: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Tiempo medio necesario para resolver el problema suponiendo que los datos de entrada siguen alguna distribución de probabilidad (normalmente uniforme)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Puede haber casos con un comportamiento peor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Tiempo esperado de un algoritmo probabilista: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Tiempo medio necesario para resolver el problema una y otra vez para unos datos concretos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Suele desaparecer el comportamiento en el caso peor a costa de empeorar el comportamiento medio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Rendimiento de los algoritmos de Las Vegas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>
                <a:latin typeface="Arial" pitchFamily="34" charset="0"/>
                <a:cs typeface="Arial" pitchFamily="34" charset="0"/>
              </a:rPr>
              <a:t>Tiempo esperado </a:t>
            </a:r>
            <a:r>
              <a:rPr lang="es-ES" sz="3000" i="1" dirty="0">
                <a:latin typeface="Arial" pitchFamily="34" charset="0"/>
                <a:cs typeface="Arial" pitchFamily="34" charset="0"/>
              </a:rPr>
              <a:t>T</a:t>
            </a:r>
            <a:r>
              <a:rPr lang="es-ES" sz="3000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3000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sz="3000" dirty="0">
                <a:latin typeface="Arial" pitchFamily="34" charset="0"/>
                <a:cs typeface="Arial" pitchFamily="34" charset="0"/>
              </a:rPr>
              <a:t>) de un algoritmo de Las Vegas seguro, suponiendo que:</a:t>
            </a:r>
          </a:p>
          <a:p>
            <a:pPr lvl="1"/>
            <a:r>
              <a:rPr lang="es-ES" sz="2600" i="1" dirty="0">
                <a:latin typeface="Arial" pitchFamily="34" charset="0"/>
                <a:cs typeface="Arial" pitchFamily="34" charset="0"/>
              </a:rPr>
              <a:t>P</a:t>
            </a:r>
            <a:r>
              <a:rPr lang="es-ES" sz="2600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600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sz="2600" dirty="0">
                <a:latin typeface="Arial" pitchFamily="34" charset="0"/>
                <a:cs typeface="Arial" pitchFamily="34" charset="0"/>
              </a:rPr>
              <a:t>) es la probabilidad de éxito del algoritmo</a:t>
            </a:r>
          </a:p>
          <a:p>
            <a:pPr lvl="1"/>
            <a:r>
              <a:rPr lang="es-ES" sz="2600" i="1" dirty="0">
                <a:latin typeface="Arial" pitchFamily="34" charset="0"/>
                <a:cs typeface="Arial" pitchFamily="34" charset="0"/>
              </a:rPr>
              <a:t>E</a:t>
            </a:r>
            <a:r>
              <a:rPr lang="es-ES" sz="2600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600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sz="2600" dirty="0">
                <a:latin typeface="Arial" pitchFamily="34" charset="0"/>
                <a:cs typeface="Arial" pitchFamily="34" charset="0"/>
              </a:rPr>
              <a:t>) es el tiempo esperado en caso de éxito</a:t>
            </a:r>
          </a:p>
          <a:p>
            <a:pPr lvl="1"/>
            <a:r>
              <a:rPr lang="es-ES" sz="2600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sz="2600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600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sz="2600" dirty="0">
                <a:latin typeface="Arial" pitchFamily="34" charset="0"/>
                <a:cs typeface="Arial" pitchFamily="34" charset="0"/>
              </a:rPr>
              <a:t>) es el tiempo esperado en caso de fracaso</a:t>
            </a:r>
          </a:p>
          <a:p>
            <a:pPr>
              <a:buNone/>
            </a:pPr>
            <a:r>
              <a:rPr lang="es-ES" i="1" dirty="0">
                <a:latin typeface="Arial" pitchFamily="34" charset="0"/>
                <a:cs typeface="Arial" pitchFamily="34" charset="0"/>
              </a:rPr>
              <a:t>   </a:t>
            </a:r>
          </a:p>
          <a:p>
            <a:pPr>
              <a:buNone/>
            </a:pPr>
            <a:r>
              <a:rPr lang="es-ES" i="1" dirty="0">
                <a:latin typeface="Arial" pitchFamily="34" charset="0"/>
                <a:cs typeface="Arial" pitchFamily="34" charset="0"/>
              </a:rPr>
              <a:t>   T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=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P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)·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E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 + (1-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P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))·(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)+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T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x</a:t>
            </a:r>
            <a:r>
              <a:rPr lang="es-ES" dirty="0">
                <a:latin typeface="Arial" pitchFamily="34" charset="0"/>
                <a:cs typeface="Arial" pitchFamily="34" charset="0"/>
              </a:rPr>
              <a:t>))</a:t>
            </a: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738763"/>
              </p:ext>
            </p:extLst>
          </p:nvPr>
        </p:nvGraphicFramePr>
        <p:xfrm>
          <a:off x="827584" y="5301208"/>
          <a:ext cx="4968552" cy="1205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726920" imgH="419040" progId="Equation.3">
                  <p:embed/>
                </p:oleObj>
              </mc:Choice>
              <mc:Fallback>
                <p:oleObj name="Ecuación" r:id="rId2" imgW="172692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301208"/>
                        <a:ext cx="4968552" cy="12056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 reinas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97152"/>
          </a:xfrm>
        </p:spPr>
        <p:txBody>
          <a:bodyPr>
            <a:noAutofit/>
          </a:bodyPr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Rendimiento del algoritmo seguro: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Supongamos que el tiempo es igual al número de nodos generados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Experimentalmente, se ha determinado que para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=8: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Nodos totales: 2.057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Nodos generados por vuelta atrás: 114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Nodos generados por Las Vegas con éxito: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E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=9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Nodos generados con fracaso: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=6’971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Probabilidad de éxito: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P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=0’1293 (1 de 8)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Usando la ecuación de tiempo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T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, el tiempo esperado (número de nodos generados) es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T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>
                <a:latin typeface="Arial" pitchFamily="34" charset="0"/>
                <a:cs typeface="Arial" pitchFamily="34" charset="0"/>
                <a:sym typeface="Symbol"/>
              </a:rPr>
              <a:t>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 55’93: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El algoritmo de Las Vegas genera la mitad de nodos aprox. que el determinista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 reinas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Arial" pitchFamily="34" charset="0"/>
                <a:cs typeface="Arial" pitchFamily="34" charset="0"/>
              </a:rPr>
              <a:t>Rendimiento del algoritmo mixto:</a:t>
            </a:r>
          </a:p>
          <a:p>
            <a:pPr lvl="1"/>
            <a:r>
              <a:rPr lang="es-ES" sz="2000" dirty="0">
                <a:latin typeface="Arial" pitchFamily="34" charset="0"/>
                <a:cs typeface="Arial" pitchFamily="34" charset="0"/>
              </a:rPr>
              <a:t>Pueden determinarse experimentalmente los valores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P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E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 y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F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 y después calcular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T</a:t>
            </a:r>
          </a:p>
          <a:p>
            <a:pPr lvl="1"/>
            <a:r>
              <a:rPr lang="es-ES" sz="2000" dirty="0">
                <a:latin typeface="Arial" pitchFamily="34" charset="0"/>
                <a:cs typeface="Arial" pitchFamily="34" charset="0"/>
              </a:rPr>
              <a:t>Resultados experimentales para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=8: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320210"/>
              </p:ext>
            </p:extLst>
          </p:nvPr>
        </p:nvGraphicFramePr>
        <p:xfrm>
          <a:off x="1500166" y="3140968"/>
          <a:ext cx="60960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Nº. reinas aleatorias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</a:t>
                      </a:r>
                      <a:endParaRPr lang="es-E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39’63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  <a:sym typeface="Symbol"/>
                        </a:rPr>
                        <a:t></a:t>
                      </a:r>
                      <a:endParaRPr lang="es-E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39’63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0’8750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22’53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39’67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28’20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0’4931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13’48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15’10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29’01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0’2618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10’31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8’79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35’10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0’1624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9’33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7’29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46’92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0’1357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9’05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6’98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53’50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0’1293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6’97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55’93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0’1293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6’97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55’93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 reinas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En general, el algoritmo mixto supera ampliamente al determinista: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El número óptimo de reinas situadas aleatoriamente debe calcularse para cada </a:t>
            </a:r>
            <a:r>
              <a:rPr lang="es-ES" sz="2400" i="1" dirty="0">
                <a:latin typeface="Arial" pitchFamily="34" charset="0"/>
                <a:cs typeface="Arial" pitchFamily="34" charset="0"/>
              </a:rPr>
              <a:t>n</a:t>
            </a:r>
          </a:p>
          <a:p>
            <a:r>
              <a:rPr lang="es-ES" sz="2800" dirty="0">
                <a:latin typeface="Arial" pitchFamily="34" charset="0"/>
                <a:cs typeface="Arial" pitchFamily="34" charset="0"/>
              </a:rPr>
              <a:t>Para </a:t>
            </a:r>
            <a:r>
              <a:rPr lang="es-ES" sz="2800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sz="2800" dirty="0">
                <a:latin typeface="Arial" pitchFamily="34" charset="0"/>
                <a:cs typeface="Arial" pitchFamily="34" charset="0"/>
              </a:rPr>
              <a:t>=39, colocando aleatoriamente 29 reinas: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El algoritmo determinista genera 11.402</a:t>
            </a:r>
            <a:r>
              <a:rPr lang="es-ES" sz="2400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s-ES" sz="2400" dirty="0">
                <a:latin typeface="Arial" pitchFamily="34" charset="0"/>
                <a:cs typeface="Arial" pitchFamily="34" charset="0"/>
              </a:rPr>
              <a:t>835.415 nodos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El algoritmo mixto: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tiene éxito en el 21% de los casos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genera unos 100 nodos tanto si tiene éxito como si no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Una versión segura alcanza una solución tras generar menos de 500 nodos (unos 20 millones de veces mejor)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N reinas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069160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Arial" pitchFamily="34" charset="0"/>
                <a:cs typeface="Arial" pitchFamily="34" charset="0"/>
              </a:rPr>
              <a:t>Nota sobre eficiencia:</a:t>
            </a:r>
          </a:p>
          <a:p>
            <a:pPr lvl="1"/>
            <a:r>
              <a:rPr lang="es-ES" sz="2400" dirty="0">
                <a:latin typeface="Arial" pitchFamily="34" charset="0"/>
                <a:cs typeface="Arial" pitchFamily="34" charset="0"/>
              </a:rPr>
              <a:t>No basta con comparar sólo el número de nodos, sino que conviene medir también tiempos de ejecución:</a:t>
            </a:r>
          </a:p>
          <a:p>
            <a:pPr lvl="2"/>
            <a:r>
              <a:rPr lang="es-ES" sz="2000" dirty="0">
                <a:latin typeface="Arial" pitchFamily="34" charset="0"/>
                <a:cs typeface="Arial" pitchFamily="34" charset="0"/>
              </a:rPr>
              <a:t>El generador de números aleatorios consume tiempo, por lo que los tiempos estimados para </a:t>
            </a:r>
            <a:r>
              <a:rPr lang="es-ES" sz="2000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sz="2000" dirty="0">
                <a:latin typeface="Arial" pitchFamily="34" charset="0"/>
                <a:cs typeface="Arial" pitchFamily="34" charset="0"/>
              </a:rPr>
              <a:t>=8 no equivalen a los tiempos de ejecución reales</a:t>
            </a:r>
          </a:p>
        </p:txBody>
      </p:sp>
    </p:spTree>
    <p:extLst>
      <p:ext uri="{BB962C8B-B14F-4D97-AF65-F5344CB8AC3E}">
        <p14:creationId xmlns:p14="http://schemas.microsoft.com/office/powerpoint/2010/main" val="28966604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24 Imagen" descr="Quicks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000250"/>
            <a:ext cx="7000875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Ordenación rápida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857500" y="2357438"/>
            <a:ext cx="3857625" cy="1714500"/>
            <a:chOff x="1800" y="1485"/>
            <a:chExt cx="2430" cy="1080"/>
          </a:xfrm>
        </p:grpSpPr>
        <p:sp>
          <p:nvSpPr>
            <p:cNvPr id="24593" name="Line 11"/>
            <p:cNvSpPr>
              <a:spLocks noChangeShapeType="1"/>
            </p:cNvSpPr>
            <p:nvPr/>
          </p:nvSpPr>
          <p:spPr bwMode="auto">
            <a:xfrm flipH="1">
              <a:off x="1800" y="1485"/>
              <a:ext cx="108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4594" name="Line 12"/>
            <p:cNvSpPr>
              <a:spLocks noChangeShapeType="1"/>
            </p:cNvSpPr>
            <p:nvPr/>
          </p:nvSpPr>
          <p:spPr bwMode="auto">
            <a:xfrm>
              <a:off x="2870" y="1485"/>
              <a:ext cx="1360" cy="10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 rot="10800000">
            <a:off x="2786063" y="3714750"/>
            <a:ext cx="3857625" cy="1643063"/>
            <a:chOff x="1349" y="1444"/>
            <a:chExt cx="2430" cy="1080"/>
          </a:xfrm>
        </p:grpSpPr>
        <p:sp>
          <p:nvSpPr>
            <p:cNvPr id="24591" name="Line 16"/>
            <p:cNvSpPr>
              <a:spLocks noChangeShapeType="1"/>
            </p:cNvSpPr>
            <p:nvPr/>
          </p:nvSpPr>
          <p:spPr bwMode="auto">
            <a:xfrm flipH="1">
              <a:off x="1349" y="1444"/>
              <a:ext cx="1125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24592" name="Line 17"/>
            <p:cNvSpPr>
              <a:spLocks noChangeShapeType="1"/>
            </p:cNvSpPr>
            <p:nvPr/>
          </p:nvSpPr>
          <p:spPr bwMode="auto">
            <a:xfrm>
              <a:off x="2429" y="1444"/>
              <a:ext cx="1350" cy="10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4351" name="Text Box 18"/>
          <p:cNvSpPr txBox="1">
            <a:spLocks noChangeArrowheads="1"/>
          </p:cNvSpPr>
          <p:nvPr/>
        </p:nvSpPr>
        <p:spPr bwMode="auto">
          <a:xfrm>
            <a:off x="3921125" y="2286000"/>
            <a:ext cx="2579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2400"/>
              <a:t>dividir (partir)</a:t>
            </a:r>
          </a:p>
        </p:txBody>
      </p:sp>
      <p:sp>
        <p:nvSpPr>
          <p:cNvPr id="14352" name="Text Box 19"/>
          <p:cNvSpPr txBox="1">
            <a:spLocks noChangeArrowheads="1"/>
          </p:cNvSpPr>
          <p:nvPr/>
        </p:nvSpPr>
        <p:spPr bwMode="auto">
          <a:xfrm>
            <a:off x="3571875" y="4786313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2400"/>
              <a:t>combinar</a:t>
            </a:r>
          </a:p>
        </p:txBody>
      </p:sp>
      <p:sp>
        <p:nvSpPr>
          <p:cNvPr id="14353" name="Text Box 20"/>
          <p:cNvSpPr txBox="1">
            <a:spLocks noChangeArrowheads="1"/>
          </p:cNvSpPr>
          <p:nvPr/>
        </p:nvSpPr>
        <p:spPr bwMode="auto">
          <a:xfrm>
            <a:off x="1333500" y="3000375"/>
            <a:ext cx="309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2000"/>
              <a:t>ordenar recursivamente</a:t>
            </a:r>
          </a:p>
        </p:txBody>
      </p:sp>
      <p:sp>
        <p:nvSpPr>
          <p:cNvPr id="14354" name="Text Box 21"/>
          <p:cNvSpPr txBox="1">
            <a:spLocks noChangeArrowheads="1"/>
          </p:cNvSpPr>
          <p:nvPr/>
        </p:nvSpPr>
        <p:spPr bwMode="auto">
          <a:xfrm>
            <a:off x="5260975" y="4357688"/>
            <a:ext cx="3025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2000"/>
              <a:t>ordenar recursivamente</a:t>
            </a:r>
          </a:p>
        </p:txBody>
      </p:sp>
      <p:sp>
        <p:nvSpPr>
          <p:cNvPr id="24586" name="Rectangle 3"/>
          <p:cNvSpPr>
            <a:spLocks noChangeArrowheads="1"/>
          </p:cNvSpPr>
          <p:nvPr/>
        </p:nvSpPr>
        <p:spPr bwMode="auto">
          <a:xfrm>
            <a:off x="827088" y="1773238"/>
            <a:ext cx="7416800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cxnSp>
        <p:nvCxnSpPr>
          <p:cNvPr id="28" name="27 Conector recto de flecha"/>
          <p:cNvCxnSpPr/>
          <p:nvPr/>
        </p:nvCxnSpPr>
        <p:spPr>
          <a:xfrm rot="5400000">
            <a:off x="2570162" y="3214688"/>
            <a:ext cx="430213" cy="158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/>
          <p:nvPr/>
        </p:nvCxnSpPr>
        <p:spPr>
          <a:xfrm rot="5400000">
            <a:off x="6428581" y="4571207"/>
            <a:ext cx="428625" cy="158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"/>
          <p:cNvSpPr/>
          <p:nvPr/>
        </p:nvSpPr>
        <p:spPr>
          <a:xfrm>
            <a:off x="1000125" y="1928813"/>
            <a:ext cx="785813" cy="50006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" name="17 Rectángulo"/>
          <p:cNvSpPr/>
          <p:nvPr/>
        </p:nvSpPr>
        <p:spPr>
          <a:xfrm>
            <a:off x="4572000" y="5357813"/>
            <a:ext cx="714375" cy="50006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464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1" grpId="0"/>
      <p:bldP spid="14352" grpId="0"/>
      <p:bldP spid="14353" grpId="0"/>
      <p:bldP spid="14354" grpId="0"/>
      <p:bldP spid="30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A980115-A4DC-CA47-3372-2F0BF58C5B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dirty="0">
                <a:latin typeface="Arial" pitchFamily="34" charset="0"/>
                <a:cs typeface="Arial" pitchFamily="34" charset="0"/>
              </a:rPr>
              <a:t>Ordenación rápida</a:t>
            </a:r>
            <a:endParaRPr lang="es-ES" altLang="es-ES" dirty="0"/>
          </a:p>
        </p:txBody>
      </p:sp>
      <p:sp>
        <p:nvSpPr>
          <p:cNvPr id="32771" name="Rectangle 8">
            <a:extLst>
              <a:ext uri="{FF2B5EF4-FFF2-40B4-BE49-F238E27FC236}">
                <a16:creationId xmlns:a16="http://schemas.microsoft.com/office/drawing/2014/main" id="{BFA7D3F7-EA25-F790-9669-49C34D88087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Partición del vector (el 1</a:t>
            </a:r>
            <a:r>
              <a:rPr lang="es-ES" altLang="es-ES" baseline="30000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 elemento como pivote):</a:t>
            </a:r>
          </a:p>
        </p:txBody>
      </p:sp>
      <p:pic>
        <p:nvPicPr>
          <p:cNvPr id="8197" name="Picture 5" descr="Partición ej 1">
            <a:extLst>
              <a:ext uri="{FF2B5EF4-FFF2-40B4-BE49-F238E27FC236}">
                <a16:creationId xmlns:a16="http://schemas.microsoft.com/office/drawing/2014/main" id="{6A8907B2-FC70-F87E-587C-0BEDEA21C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2204864"/>
            <a:ext cx="3638550" cy="1590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Partición ej 2">
            <a:extLst>
              <a:ext uri="{FF2B5EF4-FFF2-40B4-BE49-F238E27FC236}">
                <a16:creationId xmlns:a16="http://schemas.microsoft.com/office/drawing/2014/main" id="{988BD95F-1134-A409-28F2-E21AA2FF5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4149080"/>
            <a:ext cx="3659187" cy="2203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4" name="Picture 10" descr="Partición ej 3">
            <a:extLst>
              <a:ext uri="{FF2B5EF4-FFF2-40B4-BE49-F238E27FC236}">
                <a16:creationId xmlns:a16="http://schemas.microsoft.com/office/drawing/2014/main" id="{66358993-1805-3CC2-56F8-C23C8704A6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9592" y="2204864"/>
            <a:ext cx="3983037" cy="446405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Ordenación rápida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Decisión clave para el rendimiento del algoritmo de ordenación rápida: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Elección del pivote: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Si se elige repetidamente el elemento menor o mayor (dado un vector ordenado), el rendimiento es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O</a:t>
            </a:r>
            <a:r>
              <a:rPr lang="es-ES" dirty="0">
                <a:latin typeface="Arial" pitchFamily="34" charset="0"/>
                <a:cs typeface="Arial" pitchFamily="34" charset="0"/>
              </a:rPr>
              <a:t>(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n</a:t>
            </a:r>
            <a:r>
              <a:rPr lang="es-ES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s-ES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s-ES" dirty="0">
                <a:latin typeface="Arial" pitchFamily="34" charset="0"/>
                <a:cs typeface="Arial" pitchFamily="34" charset="0"/>
              </a:rPr>
              <a:t>Elección aleatoria del pivote: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 caso peor ya no dependerá del contenido de los datos de entrada,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… pero podrá producirse en cualquier momento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Ordenación rápida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Prevención de una mala generación aleatoria del pivote: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Si se genera un pivote malo, se vuelve a generar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 pivote debe ser un elemento “central”, es decir, situado en la mitad central del vector:</a:t>
            </a:r>
          </a:p>
          <a:p>
            <a:pPr lvl="2"/>
            <a:r>
              <a:rPr lang="es-ES" dirty="0">
                <a:latin typeface="Arial" pitchFamily="34" charset="0"/>
                <a:cs typeface="Arial" pitchFamily="34" charset="0"/>
              </a:rPr>
              <a:t>Se espera que pueda generarse en 2 intentos</a:t>
            </a:r>
          </a:p>
        </p:txBody>
      </p:sp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6228185" y="2086496"/>
            <a:ext cx="2808312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clase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QuickSort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Ordenación rápida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525963"/>
          </a:xfrm>
        </p:spPr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Tres ejecuciones consecutivas con los mismos datos: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340768"/>
            <a:ext cx="4708245" cy="25084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935512"/>
            <a:ext cx="4688554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" y="3935512"/>
            <a:ext cx="4360883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8441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dirty="0">
                <a:latin typeface="Arial" pitchFamily="34" charset="0"/>
                <a:cs typeface="Arial" pitchFamily="34" charset="0"/>
              </a:rPr>
              <a:t>k</a:t>
            </a:r>
            <a:r>
              <a:rPr lang="es-ES" dirty="0">
                <a:latin typeface="Arial" pitchFamily="34" charset="0"/>
                <a:cs typeface="Arial" pitchFamily="34" charset="0"/>
              </a:rPr>
              <a:t>-</a:t>
            </a:r>
            <a:r>
              <a:rPr lang="es-ES" dirty="0" err="1">
                <a:latin typeface="Arial" pitchFamily="34" charset="0"/>
                <a:cs typeface="Arial" pitchFamily="34" charset="0"/>
              </a:rPr>
              <a:t>ésimo</a:t>
            </a:r>
            <a:r>
              <a:rPr lang="es-ES" dirty="0">
                <a:latin typeface="Arial" pitchFamily="34" charset="0"/>
                <a:cs typeface="Arial" pitchFamily="34" charset="0"/>
              </a:rPr>
              <a:t> elemento de un vector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Arial" pitchFamily="34" charset="0"/>
                <a:cs typeface="Arial" pitchFamily="34" charset="0"/>
              </a:rPr>
              <a:t>Puede resolverse con una estructura algorítmica similar a la ordenación rápida, usando el método auxiliar </a:t>
            </a:r>
            <a:r>
              <a:rPr lang="es-ES" i="1" dirty="0">
                <a:latin typeface="Arial" pitchFamily="34" charset="0"/>
                <a:cs typeface="Arial" pitchFamily="34" charset="0"/>
              </a:rPr>
              <a:t>partir</a:t>
            </a:r>
            <a:r>
              <a:rPr lang="es-E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Puede elegirse aleatoriamente el pivote</a:t>
            </a:r>
          </a:p>
          <a:p>
            <a:pPr lvl="1"/>
            <a:endParaRPr lang="es-ES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s-ES" dirty="0">
                <a:latin typeface="Arial" pitchFamily="34" charset="0"/>
                <a:cs typeface="Arial" pitchFamily="34" charset="0"/>
              </a:rPr>
              <a:t>El algoritmo recursivo lineal puede convertirse fácilmente en otro iterativo</a:t>
            </a:r>
          </a:p>
        </p:txBody>
      </p:sp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5868144" y="3717032"/>
            <a:ext cx="3024336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Véase clase Seleccionar</a:t>
            </a:r>
          </a:p>
        </p:txBody>
      </p:sp>
    </p:spTree>
    <p:extLst>
      <p:ext uri="{BB962C8B-B14F-4D97-AF65-F5344CB8AC3E}">
        <p14:creationId xmlns:p14="http://schemas.microsoft.com/office/powerpoint/2010/main" val="303941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AB35ACB-4B08-4010-6496-F24BD4C2C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s-ES" altLang="es-ES" sz="4000" dirty="0">
                <a:latin typeface="Arial" panose="020B0604020202020204" pitchFamily="34" charset="0"/>
                <a:cs typeface="Arial" panose="020B0604020202020204" pitchFamily="34" charset="0"/>
              </a:rPr>
              <a:t>Problemas de optimización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0F864E2-6ABF-782B-54F4-581017599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91513" cy="4525963"/>
          </a:xfrm>
        </p:spPr>
        <p:txBody>
          <a:bodyPr/>
          <a:lstStyle/>
          <a:p>
            <a:pPr eaLnBrk="1" hangingPunct="1"/>
            <a:r>
              <a:rPr lang="es-ES" altLang="es-ES" sz="2800" dirty="0">
                <a:latin typeface="Arial" panose="020B0604020202020204" pitchFamily="34" charset="0"/>
                <a:cs typeface="Arial" panose="020B0604020202020204" pitchFamily="34" charset="0"/>
              </a:rPr>
              <a:t>Resolución más eficiente mediante decisiones aleatorias:</a:t>
            </a:r>
          </a:p>
          <a:p>
            <a:pPr lvl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Puede ser adecuado cuando no existen algoritmos exactos eficientes</a:t>
            </a:r>
          </a:p>
          <a:p>
            <a:pPr lvl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Permite mejorar los resultados de los algoritmos de búsqueda local</a:t>
            </a:r>
          </a:p>
          <a:p>
            <a:pPr eaLnBrk="1" hangingPunct="1"/>
            <a:endParaRPr lang="es-ES" alt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AB35ACB-4B08-4010-6496-F24BD4C2C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z="4000" dirty="0">
                <a:latin typeface="Arial" panose="020B0604020202020204" pitchFamily="34" charset="0"/>
                <a:cs typeface="Arial" panose="020B0604020202020204" pitchFamily="34" charset="0"/>
              </a:rPr>
              <a:t>Problema del equilibrado de carga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0F864E2-6ABF-782B-54F4-581017599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91513" cy="4525963"/>
          </a:xfrm>
        </p:spPr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Problema de minimización:</a:t>
            </a:r>
          </a:p>
          <a:p>
            <a:pPr lvl="1" eaLnBrk="1" hangingPunct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Se desea repartir las tareas entre los procesadores de forma equilibrada</a:t>
            </a:r>
          </a:p>
          <a:p>
            <a:pPr lvl="1" eaLnBrk="1" hangingPunct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Minimizar la máxima carga asignada a los procesadores</a:t>
            </a:r>
          </a:p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Sean tareas de tiempos </a:t>
            </a:r>
            <a:r>
              <a:rPr lang="es-ES" alt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={2,3,4,6,2,2} y 3 procesadores:</a:t>
            </a:r>
          </a:p>
          <a:p>
            <a:pPr lvl="1" eaLnBrk="1" hangingPunct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Máxima carga de algún procesador: 7, {6},{4,2},{3,2,2}</a:t>
            </a:r>
          </a:p>
        </p:txBody>
      </p:sp>
    </p:spTree>
    <p:extLst>
      <p:ext uri="{BB962C8B-B14F-4D97-AF65-F5344CB8AC3E}">
        <p14:creationId xmlns:p14="http://schemas.microsoft.com/office/powerpoint/2010/main" val="36209756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8F9BFA5-F176-3B60-9DEA-B95367FAE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z="4000" dirty="0">
                <a:latin typeface="Arial" panose="020B0604020202020204" pitchFamily="34" charset="0"/>
                <a:cs typeface="Arial" panose="020B0604020202020204" pitchFamily="34" charset="0"/>
              </a:rPr>
              <a:t>Problema del equilibrado de carga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DAB51CC-4330-FD64-F725-D12FB42B2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 de aproximación 1:</a:t>
            </a:r>
          </a:p>
          <a:p>
            <a:pPr lvl="1" eaLnBrk="1" hangingPunct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Cada tarea se asigna a la máquina que tiene menos carga:</a:t>
            </a:r>
          </a:p>
          <a:p>
            <a:pPr lvl="2" eaLnBrk="1" hangingPunct="1"/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Contraejemplo: sean tareas de tiempos </a:t>
            </a:r>
            <a:r>
              <a:rPr lang="es-ES" altLang="es-E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={2,3,4,6,2,2} y 3 procesadores. Solución: máxima carga 8, {2,6},{3,2},{4,2}. Solución óptima: 7, {6},{4,2},{3,2,2}</a:t>
            </a:r>
          </a:p>
          <a:p>
            <a:pPr lvl="2" eaLnBrk="1" hangingPunct="1"/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Algoritmo aproximado con una diferencia relativa del doble (1-relativo)</a:t>
            </a:r>
          </a:p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 probabilista:</a:t>
            </a:r>
          </a:p>
          <a:p>
            <a:pPr lvl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Cada tarea se asigna a una máquina de forma aleatoria</a:t>
            </a: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4E3006D1-B5F9-FAAD-0243-0DE704FAA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5850395"/>
            <a:ext cx="5077197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000" dirty="0"/>
              <a:t>Véase versión equilibrarCargasAprox1Prob de clase </a:t>
            </a:r>
            <a:r>
              <a:rPr lang="es-ES" altLang="es-ES" sz="2000" dirty="0" err="1"/>
              <a:t>EquilibradoCargas</a:t>
            </a:r>
            <a:endParaRPr lang="es-ES" altLang="es-E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59051667-571E-7C2B-34BC-83DEFE81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Métodos para escapar de óptimos locales</a:t>
            </a:r>
          </a:p>
        </p:txBody>
      </p:sp>
      <p:sp>
        <p:nvSpPr>
          <p:cNvPr id="3075" name="2 Marcador de contenido">
            <a:extLst>
              <a:ext uri="{FF2B5EF4-FFF2-40B4-BE49-F238E27FC236}">
                <a16:creationId xmlns:a16="http://schemas.microsoft.com/office/drawing/2014/main" id="{5776F855-C478-AA19-0A01-B153796EE3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1625"/>
            <a:ext cx="8229600" cy="5043488"/>
          </a:xfrm>
        </p:spPr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Algoritmos probabilistas: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Generación aleatoria de un punto del espacio de solución (solución inicial):</a:t>
            </a:r>
          </a:p>
          <a:p>
            <a:pPr lvl="2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O de varios puntos del espacio de soluciones, desde los cuales se busca cada óptimo local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“Recocido simulado” (</a:t>
            </a:r>
            <a:r>
              <a:rPr lang="es-ES" alt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simulated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i="1" dirty="0" err="1">
                <a:latin typeface="Arial" panose="020B0604020202020204" pitchFamily="34" charset="0"/>
                <a:cs typeface="Arial" panose="020B0604020202020204" pitchFamily="34" charset="0"/>
              </a:rPr>
              <a:t>annealing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lvl="2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También llamado “recocido” de Monte Carlo</a:t>
            </a:r>
          </a:p>
          <a:p>
            <a:pPr lvl="2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Un parámetro adicional (“temperatura”) cambia la probabilidad de moverse a un vecino:</a:t>
            </a:r>
          </a:p>
          <a:p>
            <a:pPr lvl="3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Incluso podría aceptarse un vecino peor, escapando al óptimo local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BB46985-6684-D885-8341-5C9446CF3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Algoritmos de búsqueda local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1A1A613-8BC3-0D04-D68B-1900E789F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578850" cy="4525962"/>
          </a:xfrm>
        </p:spPr>
        <p:txBody>
          <a:bodyPr/>
          <a:lstStyle/>
          <a:p>
            <a:pPr eaLnBrk="1" hangingPunct="1"/>
            <a:r>
              <a:rPr lang="es-ES" altLang="es-ES" sz="2800" dirty="0">
                <a:latin typeface="Arial" panose="020B0604020202020204" pitchFamily="34" charset="0"/>
                <a:cs typeface="Arial" panose="020B0604020202020204" pitchFamily="34" charset="0"/>
              </a:rPr>
              <a:t>Algoritmo de ascenso:</a:t>
            </a:r>
          </a:p>
          <a:p>
            <a:pPr marL="457200" lvl="1" indent="0" eaLnBrk="1" hangingPunct="1">
              <a:buFontTx/>
              <a:buNone/>
            </a:pP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T’ ascenso (T datos, …)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T’ sol = &lt;&lt;crea una primera solución&gt;&gt;;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mejora = true;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do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&lt;&lt;selecciona un punto vecino de sol&gt;&gt;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(valor(vecino) &gt; valor(sol))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sol = vecino;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lang="es-ES" alt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mejora = false;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}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(mejora);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sol;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E5CA585F-C63C-7FA8-96A2-D3CE9E8E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Algoritmos probabilistas de búsqueda local</a:t>
            </a:r>
          </a:p>
        </p:txBody>
      </p: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5DA672BA-5376-3189-34DD-E5052A505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1625"/>
            <a:ext cx="8229600" cy="5286375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es-ES" sz="8600" dirty="0">
                <a:latin typeface="Arial" panose="020B0604020202020204" pitchFamily="34" charset="0"/>
                <a:cs typeface="Arial" panose="020B0604020202020204" pitchFamily="34" charset="0"/>
              </a:rPr>
              <a:t>Algoritmo de ascenso, desde N soluciones aleatorias:</a:t>
            </a:r>
          </a:p>
          <a:p>
            <a:pPr marL="0" indent="0">
              <a:buFontTx/>
              <a:buNone/>
              <a:defRPr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9263" indent="0">
              <a:buFontTx/>
              <a:buNone/>
              <a:defRPr/>
            </a:pP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T’ ascenso (T datos, …) {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T’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mejorSol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= &lt;&lt;crea una primera “mejor” solución&gt;&gt;;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i=0; i&lt;N, i++) {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T’ sol = &lt;&lt;crea una solución aleatoria&gt;&gt;;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mejora = true;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do {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    &lt;&lt;selecciona un punto vecino de sol&gt;&gt;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(valor(vecino) &gt; valor(sol))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        sol = vecino;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lang="es-ES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        mejora = false;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}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(mejora);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(valor(sol) &gt; valor(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mejorSol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mejorSol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= sol;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}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mejorSol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49263" indent="0">
              <a:buFontTx/>
              <a:buNone/>
              <a:defRPr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095750B1-12C2-4E0F-1E45-B637B4D2DC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 de ascenso: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Un recorrido vecino puede generarse mediante el intercambio de dos nodos adyacentes:</a:t>
            </a:r>
          </a:p>
          <a:p>
            <a:pPr lvl="2" eaLnBrk="1" hangingPunct="1"/>
            <a:endParaRPr lang="es-ES" altLang="es-ES" dirty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307A781-5DC9-69E1-2507-E9B56FC0E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Problema del viajante</a:t>
            </a:r>
          </a:p>
        </p:txBody>
      </p:sp>
      <p:grpSp>
        <p:nvGrpSpPr>
          <p:cNvPr id="5124" name="Grupo 10">
            <a:extLst>
              <a:ext uri="{FF2B5EF4-FFF2-40B4-BE49-F238E27FC236}">
                <a16:creationId xmlns:a16="http://schemas.microsoft.com/office/drawing/2014/main" id="{89FBBB69-8EC6-6B54-9B62-362CFC5C72C6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3702050"/>
            <a:ext cx="5976938" cy="2036763"/>
            <a:chOff x="1763713" y="3702050"/>
            <a:chExt cx="5976937" cy="2036763"/>
          </a:xfrm>
        </p:grpSpPr>
        <p:grpSp>
          <p:nvGrpSpPr>
            <p:cNvPr id="5125" name="Grupo 5">
              <a:extLst>
                <a:ext uri="{FF2B5EF4-FFF2-40B4-BE49-F238E27FC236}">
                  <a16:creationId xmlns:a16="http://schemas.microsoft.com/office/drawing/2014/main" id="{7BC17E92-E389-14B9-12CE-8463329C0D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713" y="3706813"/>
              <a:ext cx="2303462" cy="2032000"/>
              <a:chOff x="1763713" y="3706813"/>
              <a:chExt cx="2303462" cy="2032000"/>
            </a:xfrm>
          </p:grpSpPr>
          <p:grpSp>
            <p:nvGrpSpPr>
              <p:cNvPr id="5137" name="Grupo 12">
                <a:extLst>
                  <a:ext uri="{FF2B5EF4-FFF2-40B4-BE49-F238E27FC236}">
                    <a16:creationId xmlns:a16="http://schemas.microsoft.com/office/drawing/2014/main" id="{8331CC82-848E-D6C8-1C5C-80E60F72A0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63713" y="3706813"/>
                <a:ext cx="2303462" cy="2032000"/>
                <a:chOff x="1763688" y="3707198"/>
                <a:chExt cx="2304256" cy="2031325"/>
              </a:xfrm>
            </p:grpSpPr>
            <p:sp>
              <p:nvSpPr>
                <p:cNvPr id="5141" name="CuadroTexto 11">
                  <a:extLst>
                    <a:ext uri="{FF2B5EF4-FFF2-40B4-BE49-F238E27FC236}">
                      <a16:creationId xmlns:a16="http://schemas.microsoft.com/office/drawing/2014/main" id="{71622DFD-C994-47B8-B4C8-9AAF439687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3688" y="3707198"/>
                  <a:ext cx="2304256" cy="2031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altLang="es-ES" sz="1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               i</a:t>
                  </a: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+1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                </a:t>
                  </a:r>
                  <a:r>
                    <a:rPr lang="es-ES" altLang="es-ES" sz="1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+2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</a:t>
                  </a:r>
                  <a:r>
                    <a:rPr lang="es-ES" altLang="es-ES" sz="1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+3</a:t>
                  </a:r>
                </a:p>
              </p:txBody>
            </p:sp>
            <p:sp>
              <p:nvSpPr>
                <p:cNvPr id="2" name="Elipse 1">
                  <a:extLst>
                    <a:ext uri="{FF2B5EF4-FFF2-40B4-BE49-F238E27FC236}">
                      <a16:creationId xmlns:a16="http://schemas.microsoft.com/office/drawing/2014/main" id="{CCD6F73C-8A12-94B3-8BBF-B40203C1B545}"/>
                    </a:ext>
                  </a:extLst>
                </p:cNvPr>
                <p:cNvSpPr/>
                <p:nvPr/>
              </p:nvSpPr>
              <p:spPr>
                <a:xfrm>
                  <a:off x="1847855" y="4040462"/>
                  <a:ext cx="71462" cy="73001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  <p:sp>
              <p:nvSpPr>
                <p:cNvPr id="3" name="Elipse 2">
                  <a:extLst>
                    <a:ext uri="{FF2B5EF4-FFF2-40B4-BE49-F238E27FC236}">
                      <a16:creationId xmlns:a16="http://schemas.microsoft.com/office/drawing/2014/main" id="{479F2E23-55E2-77F2-D9B6-F0818E7AA2A9}"/>
                    </a:ext>
                  </a:extLst>
                </p:cNvPr>
                <p:cNvSpPr/>
                <p:nvPr/>
              </p:nvSpPr>
              <p:spPr>
                <a:xfrm>
                  <a:off x="2843560" y="4040462"/>
                  <a:ext cx="73050" cy="73001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  <p:sp>
              <p:nvSpPr>
                <p:cNvPr id="4" name="Elipse 3">
                  <a:extLst>
                    <a:ext uri="{FF2B5EF4-FFF2-40B4-BE49-F238E27FC236}">
                      <a16:creationId xmlns:a16="http://schemas.microsoft.com/office/drawing/2014/main" id="{F4799518-EF6A-BD3D-FA48-AC8060DB30E5}"/>
                    </a:ext>
                  </a:extLst>
                </p:cNvPr>
                <p:cNvSpPr/>
                <p:nvPr/>
              </p:nvSpPr>
              <p:spPr>
                <a:xfrm>
                  <a:off x="3491483" y="4797448"/>
                  <a:ext cx="73050" cy="71414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  <p:sp>
              <p:nvSpPr>
                <p:cNvPr id="5" name="Elipse 4">
                  <a:extLst>
                    <a:ext uri="{FF2B5EF4-FFF2-40B4-BE49-F238E27FC236}">
                      <a16:creationId xmlns:a16="http://schemas.microsoft.com/office/drawing/2014/main" id="{D29212AF-E991-7C0E-9B73-DE89DC705FC9}"/>
                    </a:ext>
                  </a:extLst>
                </p:cNvPr>
                <p:cNvSpPr/>
                <p:nvPr/>
              </p:nvSpPr>
              <p:spPr>
                <a:xfrm>
                  <a:off x="2843560" y="5517933"/>
                  <a:ext cx="71463" cy="71414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</p:grpSp>
          <p:cxnSp>
            <p:nvCxnSpPr>
              <p:cNvPr id="7" name="Conector recto de flecha 6">
                <a:extLst>
                  <a:ext uri="{FF2B5EF4-FFF2-40B4-BE49-F238E27FC236}">
                    <a16:creationId xmlns:a16="http://schemas.microsoft.com/office/drawing/2014/main" id="{1E2F4B41-A06A-6162-ED83-F1C5A1735045}"/>
                  </a:ext>
                </a:extLst>
              </p:cNvPr>
              <p:cNvCxnSpPr/>
              <p:nvPr/>
            </p:nvCxnSpPr>
            <p:spPr>
              <a:xfrm>
                <a:off x="1979613" y="4076700"/>
                <a:ext cx="8636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cto de flecha 7">
                <a:extLst>
                  <a:ext uri="{FF2B5EF4-FFF2-40B4-BE49-F238E27FC236}">
                    <a16:creationId xmlns:a16="http://schemas.microsoft.com/office/drawing/2014/main" id="{DC26C79E-0068-F535-584F-B19AAE43A1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14651" y="4941888"/>
                <a:ext cx="600075" cy="57467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cto de flecha 8">
                <a:extLst>
                  <a:ext uri="{FF2B5EF4-FFF2-40B4-BE49-F238E27FC236}">
                    <a16:creationId xmlns:a16="http://schemas.microsoft.com/office/drawing/2014/main" id="{024BA1BA-FB06-B1B2-0DBC-9D4C9C6D8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6238" y="4149725"/>
                <a:ext cx="576263" cy="61118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26" name="Grupo 9">
              <a:extLst>
                <a:ext uri="{FF2B5EF4-FFF2-40B4-BE49-F238E27FC236}">
                  <a16:creationId xmlns:a16="http://schemas.microsoft.com/office/drawing/2014/main" id="{4C6C1AFB-ADC1-02F6-FF5C-2E874FD79F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5600" y="3702050"/>
              <a:ext cx="2305050" cy="2030413"/>
              <a:chOff x="5435600" y="3702050"/>
              <a:chExt cx="2305050" cy="2030413"/>
            </a:xfrm>
          </p:grpSpPr>
          <p:grpSp>
            <p:nvGrpSpPr>
              <p:cNvPr id="5128" name="Grupo 13">
                <a:extLst>
                  <a:ext uri="{FF2B5EF4-FFF2-40B4-BE49-F238E27FC236}">
                    <a16:creationId xmlns:a16="http://schemas.microsoft.com/office/drawing/2014/main" id="{F4CCF55A-51A7-9042-11B3-188E021574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35600" y="3702050"/>
                <a:ext cx="2305050" cy="2030413"/>
                <a:chOff x="1763688" y="3707198"/>
                <a:chExt cx="2304256" cy="2031325"/>
              </a:xfrm>
            </p:grpSpPr>
            <p:sp>
              <p:nvSpPr>
                <p:cNvPr id="5132" name="CuadroTexto 14">
                  <a:extLst>
                    <a:ext uri="{FF2B5EF4-FFF2-40B4-BE49-F238E27FC236}">
                      <a16:creationId xmlns:a16="http://schemas.microsoft.com/office/drawing/2014/main" id="{7CB73A69-2682-E413-8236-87878A5C28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3688" y="3707198"/>
                  <a:ext cx="2304256" cy="2031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altLang="es-ES" sz="1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               i</a:t>
                  </a: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+1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                </a:t>
                  </a:r>
                  <a:r>
                    <a:rPr lang="es-ES" altLang="es-ES" sz="1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+2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s-ES" altLang="es-ES" sz="1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</a:t>
                  </a:r>
                  <a:r>
                    <a:rPr lang="es-ES" altLang="es-ES" sz="1800" i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s-ES" altLang="es-ES" sz="1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+3</a:t>
                  </a:r>
                </a:p>
              </p:txBody>
            </p:sp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6344FC07-FEAA-890D-2A92-568432AB35BF}"/>
                    </a:ext>
                  </a:extLst>
                </p:cNvPr>
                <p:cNvSpPr/>
                <p:nvPr/>
              </p:nvSpPr>
              <p:spPr>
                <a:xfrm>
                  <a:off x="1847796" y="4040723"/>
                  <a:ext cx="71413" cy="7305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A205CAE6-ED14-507E-CD25-5395363315D3}"/>
                    </a:ext>
                  </a:extLst>
                </p:cNvPr>
                <p:cNvSpPr/>
                <p:nvPr/>
              </p:nvSpPr>
              <p:spPr>
                <a:xfrm>
                  <a:off x="2844403" y="4040723"/>
                  <a:ext cx="71413" cy="7305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  <p:sp>
              <p:nvSpPr>
                <p:cNvPr id="18" name="Elipse 17">
                  <a:extLst>
                    <a:ext uri="{FF2B5EF4-FFF2-40B4-BE49-F238E27FC236}">
                      <a16:creationId xmlns:a16="http://schemas.microsoft.com/office/drawing/2014/main" id="{D41792E6-C4F3-3556-77E1-86D6E640E441}"/>
                    </a:ext>
                  </a:extLst>
                </p:cNvPr>
                <p:cNvSpPr/>
                <p:nvPr/>
              </p:nvSpPr>
              <p:spPr>
                <a:xfrm>
                  <a:off x="3491880" y="4796712"/>
                  <a:ext cx="71413" cy="7305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  <p:sp>
              <p:nvSpPr>
                <p:cNvPr id="19" name="Elipse 18">
                  <a:extLst>
                    <a:ext uri="{FF2B5EF4-FFF2-40B4-BE49-F238E27FC236}">
                      <a16:creationId xmlns:a16="http://schemas.microsoft.com/office/drawing/2014/main" id="{2B58AC37-82FE-00B2-356A-CCBE318A35DC}"/>
                    </a:ext>
                  </a:extLst>
                </p:cNvPr>
                <p:cNvSpPr/>
                <p:nvPr/>
              </p:nvSpPr>
              <p:spPr>
                <a:xfrm>
                  <a:off x="2842816" y="5517761"/>
                  <a:ext cx="71412" cy="7147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s-ES"/>
                </a:p>
              </p:txBody>
            </p:sp>
          </p:grpSp>
          <p:cxnSp>
            <p:nvCxnSpPr>
              <p:cNvPr id="20" name="Conector recto de flecha 19">
                <a:extLst>
                  <a:ext uri="{FF2B5EF4-FFF2-40B4-BE49-F238E27FC236}">
                    <a16:creationId xmlns:a16="http://schemas.microsoft.com/office/drawing/2014/main" id="{BF25BCF3-ABA8-AF19-BAB1-A6686BAC3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51500" y="4076700"/>
                <a:ext cx="1512887" cy="7874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de flecha 20">
                <a:extLst>
                  <a:ext uri="{FF2B5EF4-FFF2-40B4-BE49-F238E27FC236}">
                    <a16:creationId xmlns:a16="http://schemas.microsoft.com/office/drawing/2014/main" id="{C5381ECF-9876-A45C-AA07-51CBC2A270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5100" y="4149725"/>
                <a:ext cx="73025" cy="13668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de flecha 21">
                <a:extLst>
                  <a:ext uri="{FF2B5EF4-FFF2-40B4-BE49-F238E27FC236}">
                    <a16:creationId xmlns:a16="http://schemas.microsoft.com/office/drawing/2014/main" id="{57E74B12-5171-4D60-769B-237DCBA39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8125" y="4149725"/>
                <a:ext cx="576262" cy="61118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Flecha: a la derecha 24">
              <a:extLst>
                <a:ext uri="{FF2B5EF4-FFF2-40B4-BE49-F238E27FC236}">
                  <a16:creationId xmlns:a16="http://schemas.microsoft.com/office/drawing/2014/main" id="{BAF0DF3D-9C63-B350-934C-467DBC2DEC8E}"/>
                </a:ext>
              </a:extLst>
            </p:cNvPr>
            <p:cNvSpPr/>
            <p:nvPr/>
          </p:nvSpPr>
          <p:spPr>
            <a:xfrm>
              <a:off x="4572001" y="4652963"/>
              <a:ext cx="503237" cy="211137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ES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3AF82C5-B9A5-AC18-6889-D686A1C13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Problema del viajante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3ED7936-CFA4-3D59-D678-44DD4C428B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3543300" cy="4525963"/>
          </a:xfrm>
        </p:spPr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 probabilista de búsqueda local: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Generación aleatoria de una solución, que se mejora localmente</a:t>
            </a:r>
          </a:p>
          <a:p>
            <a:pPr lvl="1"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Puede repetirse</a:t>
            </a:r>
          </a:p>
          <a:p>
            <a:pPr eaLnBrk="1" hangingPunct="1"/>
            <a:endParaRPr lang="es-ES" altLang="es-ES" dirty="0"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ADB0D1-EE7F-2275-1D3C-D908F9E02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87863" cy="4983163"/>
          </a:xfrm>
        </p:spPr>
        <p:txBody>
          <a:bodyPr/>
          <a:lstStyle/>
          <a:p>
            <a:pPr>
              <a:defRPr/>
            </a:pPr>
            <a:endParaRPr lang="es-ES" dirty="0"/>
          </a:p>
          <a:p>
            <a:pPr>
              <a:defRPr/>
            </a:pPr>
            <a:endParaRPr lang="es-ES" dirty="0"/>
          </a:p>
          <a:p>
            <a:pPr>
              <a:defRPr/>
            </a:pPr>
            <a:endParaRPr lang="es-ES" dirty="0"/>
          </a:p>
          <a:p>
            <a:pPr>
              <a:defRPr/>
            </a:pPr>
            <a:endParaRPr lang="es-ES" dirty="0"/>
          </a:p>
          <a:p>
            <a:pPr>
              <a:defRPr/>
            </a:pPr>
            <a:endParaRPr lang="es-ES" dirty="0"/>
          </a:p>
          <a:p>
            <a:pPr>
              <a:defRPr/>
            </a:pPr>
            <a:endParaRPr lang="es-ES" dirty="0"/>
          </a:p>
          <a:p>
            <a:pPr>
              <a:defRPr/>
            </a:pPr>
            <a:endParaRPr lang="es-ES" dirty="0"/>
          </a:p>
          <a:p>
            <a:pPr marL="0" indent="0">
              <a:buFontTx/>
              <a:buNone/>
              <a:defRPr/>
            </a:pPr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Solución óptima: 0-1-2-5-3-4-0, 3+8+20+15+5+7 = 58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49" name="56 Grupo">
            <a:extLst>
              <a:ext uri="{FF2B5EF4-FFF2-40B4-BE49-F238E27FC236}">
                <a16:creationId xmlns:a16="http://schemas.microsoft.com/office/drawing/2014/main" id="{16C4F89B-75C1-B659-7FDF-E933A29A68F1}"/>
              </a:ext>
            </a:extLst>
          </p:cNvPr>
          <p:cNvGrpSpPr>
            <a:grpSpLocks/>
          </p:cNvGrpSpPr>
          <p:nvPr/>
        </p:nvGrpSpPr>
        <p:grpSpPr bwMode="auto">
          <a:xfrm>
            <a:off x="4037013" y="1584325"/>
            <a:ext cx="5143500" cy="3357563"/>
            <a:chOff x="2928938" y="1214438"/>
            <a:chExt cx="5143500" cy="3357562"/>
          </a:xfrm>
        </p:grpSpPr>
        <p:grpSp>
          <p:nvGrpSpPr>
            <p:cNvPr id="6151" name="54 Grupo">
              <a:extLst>
                <a:ext uri="{FF2B5EF4-FFF2-40B4-BE49-F238E27FC236}">
                  <a16:creationId xmlns:a16="http://schemas.microsoft.com/office/drawing/2014/main" id="{55D7DEBD-FB3F-BD4C-1232-48DA251678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1802" y="1214438"/>
              <a:ext cx="4857750" cy="3357562"/>
              <a:chOff x="3071813" y="1214438"/>
              <a:chExt cx="4857750" cy="3357562"/>
            </a:xfrm>
          </p:grpSpPr>
          <p:grpSp>
            <p:nvGrpSpPr>
              <p:cNvPr id="6168" name="53 Grupo">
                <a:extLst>
                  <a:ext uri="{FF2B5EF4-FFF2-40B4-BE49-F238E27FC236}">
                    <a16:creationId xmlns:a16="http://schemas.microsoft.com/office/drawing/2014/main" id="{DF9EB159-94B2-03F4-6F82-E93C983CC5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1813" y="1214438"/>
                <a:ext cx="4857750" cy="3357562"/>
                <a:chOff x="3071813" y="1214438"/>
                <a:chExt cx="4857750" cy="3357562"/>
              </a:xfrm>
            </p:grpSpPr>
            <p:grpSp>
              <p:nvGrpSpPr>
                <p:cNvPr id="6185" name="23 Grupo">
                  <a:extLst>
                    <a:ext uri="{FF2B5EF4-FFF2-40B4-BE49-F238E27FC236}">
                      <a16:creationId xmlns:a16="http://schemas.microsoft.com/office/drawing/2014/main" id="{DCA60D44-278E-88C1-4685-370E3443CB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1813" y="1857375"/>
                  <a:ext cx="857250" cy="785813"/>
                  <a:chOff x="2143108" y="4500570"/>
                  <a:chExt cx="857256" cy="785818"/>
                </a:xfrm>
              </p:grpSpPr>
              <p:sp>
                <p:nvSpPr>
                  <p:cNvPr id="5" name="4 Elipse">
                    <a:extLst>
                      <a:ext uri="{FF2B5EF4-FFF2-40B4-BE49-F238E27FC236}">
                        <a16:creationId xmlns:a16="http://schemas.microsoft.com/office/drawing/2014/main" id="{D67BE7C7-8F74-F603-2232-474D248F63C5}"/>
                      </a:ext>
                    </a:extLst>
                  </p:cNvPr>
                  <p:cNvSpPr/>
                  <p:nvPr/>
                </p:nvSpPr>
                <p:spPr>
                  <a:xfrm>
                    <a:off x="2143119" y="4500571"/>
                    <a:ext cx="785817" cy="785817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endParaRPr lang="es-ES"/>
                  </a:p>
                </p:txBody>
              </p:sp>
              <p:sp>
                <p:nvSpPr>
                  <p:cNvPr id="6202" name="5 CuadroTexto">
                    <a:extLst>
                      <a:ext uri="{FF2B5EF4-FFF2-40B4-BE49-F238E27FC236}">
                        <a16:creationId xmlns:a16="http://schemas.microsoft.com/office/drawing/2014/main" id="{10500540-D2DC-7A72-D8D2-CD9C42F2B04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57422" y="4572008"/>
                    <a:ext cx="642942" cy="5847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altLang="es-ES"/>
                      <a:t>0</a:t>
                    </a:r>
                  </a:p>
                </p:txBody>
              </p:sp>
            </p:grpSp>
            <p:grpSp>
              <p:nvGrpSpPr>
                <p:cNvPr id="6186" name="27 Grupo">
                  <a:extLst>
                    <a:ext uri="{FF2B5EF4-FFF2-40B4-BE49-F238E27FC236}">
                      <a16:creationId xmlns:a16="http://schemas.microsoft.com/office/drawing/2014/main" id="{17F48CFE-81EC-DB5C-ADB4-0ED339F375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00625" y="3786188"/>
                  <a:ext cx="857250" cy="785812"/>
                  <a:chOff x="4357686" y="5214950"/>
                  <a:chExt cx="857256" cy="785818"/>
                </a:xfrm>
              </p:grpSpPr>
              <p:sp>
                <p:nvSpPr>
                  <p:cNvPr id="8" name="7 Elipse">
                    <a:extLst>
                      <a:ext uri="{FF2B5EF4-FFF2-40B4-BE49-F238E27FC236}">
                        <a16:creationId xmlns:a16="http://schemas.microsoft.com/office/drawing/2014/main" id="{CDC51A2F-8CF9-8C1B-10F1-9349CB2DB29F}"/>
                      </a:ext>
                    </a:extLst>
                  </p:cNvPr>
                  <p:cNvSpPr/>
                  <p:nvPr/>
                </p:nvSpPr>
                <p:spPr>
                  <a:xfrm>
                    <a:off x="4357697" y="5214949"/>
                    <a:ext cx="785819" cy="785819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endParaRPr lang="es-ES"/>
                  </a:p>
                </p:txBody>
              </p:sp>
              <p:sp>
                <p:nvSpPr>
                  <p:cNvPr id="6200" name="8 CuadroTexto">
                    <a:extLst>
                      <a:ext uri="{FF2B5EF4-FFF2-40B4-BE49-F238E27FC236}">
                        <a16:creationId xmlns:a16="http://schemas.microsoft.com/office/drawing/2014/main" id="{287C1AB3-A7AF-544E-D6D3-974B1D6368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72000" y="5344555"/>
                    <a:ext cx="642942" cy="5847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altLang="es-ES"/>
                      <a:t>4</a:t>
                    </a:r>
                  </a:p>
                </p:txBody>
              </p:sp>
            </p:grpSp>
            <p:grpSp>
              <p:nvGrpSpPr>
                <p:cNvPr id="6187" name="25 Grupo">
                  <a:extLst>
                    <a:ext uri="{FF2B5EF4-FFF2-40B4-BE49-F238E27FC236}">
                      <a16:creationId xmlns:a16="http://schemas.microsoft.com/office/drawing/2014/main" id="{E647D897-9133-D69B-9455-3467205ADE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00625" y="1214438"/>
                  <a:ext cx="857250" cy="785812"/>
                  <a:chOff x="4357686" y="3786190"/>
                  <a:chExt cx="857256" cy="785818"/>
                </a:xfrm>
              </p:grpSpPr>
              <p:sp>
                <p:nvSpPr>
                  <p:cNvPr id="11" name="10 Elipse">
                    <a:extLst>
                      <a:ext uri="{FF2B5EF4-FFF2-40B4-BE49-F238E27FC236}">
                        <a16:creationId xmlns:a16="http://schemas.microsoft.com/office/drawing/2014/main" id="{6AF283E8-E8DC-AFE4-05A4-1AD6F5733704}"/>
                      </a:ext>
                    </a:extLst>
                  </p:cNvPr>
                  <p:cNvSpPr/>
                  <p:nvPr/>
                </p:nvSpPr>
                <p:spPr>
                  <a:xfrm>
                    <a:off x="4357697" y="3786190"/>
                    <a:ext cx="785819" cy="785819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endParaRPr lang="es-ES"/>
                  </a:p>
                </p:txBody>
              </p:sp>
              <p:sp>
                <p:nvSpPr>
                  <p:cNvPr id="6198" name="11 CuadroTexto">
                    <a:extLst>
                      <a:ext uri="{FF2B5EF4-FFF2-40B4-BE49-F238E27FC236}">
                        <a16:creationId xmlns:a16="http://schemas.microsoft.com/office/drawing/2014/main" id="{B4B214BB-063E-C5EC-FF40-FE74782B139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72000" y="3915795"/>
                    <a:ext cx="642942" cy="5847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altLang="es-ES"/>
                      <a:t>1</a:t>
                    </a:r>
                  </a:p>
                </p:txBody>
              </p:sp>
            </p:grpSp>
            <p:grpSp>
              <p:nvGrpSpPr>
                <p:cNvPr id="6188" name="24 Grupo">
                  <a:extLst>
                    <a:ext uri="{FF2B5EF4-FFF2-40B4-BE49-F238E27FC236}">
                      <a16:creationId xmlns:a16="http://schemas.microsoft.com/office/drawing/2014/main" id="{71B408FB-F173-F692-7D38-CD23D0ACCD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1813" y="3500438"/>
                  <a:ext cx="857250" cy="785812"/>
                  <a:chOff x="3357554" y="4500570"/>
                  <a:chExt cx="857256" cy="785818"/>
                </a:xfrm>
              </p:grpSpPr>
              <p:sp>
                <p:nvSpPr>
                  <p:cNvPr id="14" name="13 Elipse">
                    <a:extLst>
                      <a:ext uri="{FF2B5EF4-FFF2-40B4-BE49-F238E27FC236}">
                        <a16:creationId xmlns:a16="http://schemas.microsoft.com/office/drawing/2014/main" id="{05F80D7C-3D3D-58C3-EB01-E95A82269CF0}"/>
                      </a:ext>
                    </a:extLst>
                  </p:cNvPr>
                  <p:cNvSpPr/>
                  <p:nvPr/>
                </p:nvSpPr>
                <p:spPr>
                  <a:xfrm>
                    <a:off x="3357565" y="4500569"/>
                    <a:ext cx="785817" cy="785819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endParaRPr lang="es-ES"/>
                  </a:p>
                </p:txBody>
              </p:sp>
              <p:sp>
                <p:nvSpPr>
                  <p:cNvPr id="6196" name="14 CuadroTexto">
                    <a:extLst>
                      <a:ext uri="{FF2B5EF4-FFF2-40B4-BE49-F238E27FC236}">
                        <a16:creationId xmlns:a16="http://schemas.microsoft.com/office/drawing/2014/main" id="{823CE379-2900-44D6-61D7-E8F5EAE0ACC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71868" y="4572008"/>
                    <a:ext cx="642942" cy="5847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altLang="es-ES"/>
                      <a:t>5</a:t>
                    </a:r>
                  </a:p>
                </p:txBody>
              </p:sp>
            </p:grpSp>
            <p:grpSp>
              <p:nvGrpSpPr>
                <p:cNvPr id="6189" name="28 Grupo">
                  <a:extLst>
                    <a:ext uri="{FF2B5EF4-FFF2-40B4-BE49-F238E27FC236}">
                      <a16:creationId xmlns:a16="http://schemas.microsoft.com/office/drawing/2014/main" id="{7C562847-1BCA-56B5-FF86-6443AC64AE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072313" y="1857375"/>
                  <a:ext cx="857250" cy="785813"/>
                  <a:chOff x="2143108" y="4500570"/>
                  <a:chExt cx="857256" cy="785818"/>
                </a:xfrm>
              </p:grpSpPr>
              <p:sp>
                <p:nvSpPr>
                  <p:cNvPr id="17" name="16 Elipse">
                    <a:extLst>
                      <a:ext uri="{FF2B5EF4-FFF2-40B4-BE49-F238E27FC236}">
                        <a16:creationId xmlns:a16="http://schemas.microsoft.com/office/drawing/2014/main" id="{FF0D2147-FDA0-40D9-FB0B-B5AEB041F444}"/>
                      </a:ext>
                    </a:extLst>
                  </p:cNvPr>
                  <p:cNvSpPr/>
                  <p:nvPr/>
                </p:nvSpPr>
                <p:spPr>
                  <a:xfrm>
                    <a:off x="2143119" y="4500571"/>
                    <a:ext cx="785817" cy="785817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endParaRPr lang="es-ES"/>
                  </a:p>
                </p:txBody>
              </p:sp>
              <p:sp>
                <p:nvSpPr>
                  <p:cNvPr id="6194" name="17 CuadroTexto">
                    <a:extLst>
                      <a:ext uri="{FF2B5EF4-FFF2-40B4-BE49-F238E27FC236}">
                        <a16:creationId xmlns:a16="http://schemas.microsoft.com/office/drawing/2014/main" id="{EA9D4A69-5063-3ED5-ED39-8D22BDA0023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57422" y="4572008"/>
                    <a:ext cx="642942" cy="5847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altLang="es-ES"/>
                      <a:t>2</a:t>
                    </a:r>
                  </a:p>
                </p:txBody>
              </p:sp>
            </p:grpSp>
            <p:grpSp>
              <p:nvGrpSpPr>
                <p:cNvPr id="6190" name="37 Grupo">
                  <a:extLst>
                    <a:ext uri="{FF2B5EF4-FFF2-40B4-BE49-F238E27FC236}">
                      <a16:creationId xmlns:a16="http://schemas.microsoft.com/office/drawing/2014/main" id="{414446CB-3288-29EF-2B91-450A77C90A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000875" y="3500438"/>
                  <a:ext cx="857250" cy="785812"/>
                  <a:chOff x="3357554" y="4500570"/>
                  <a:chExt cx="857256" cy="785818"/>
                </a:xfrm>
              </p:grpSpPr>
              <p:sp>
                <p:nvSpPr>
                  <p:cNvPr id="20" name="19 Elipse">
                    <a:extLst>
                      <a:ext uri="{FF2B5EF4-FFF2-40B4-BE49-F238E27FC236}">
                        <a16:creationId xmlns:a16="http://schemas.microsoft.com/office/drawing/2014/main" id="{8C76CFD6-D218-51C7-9FA9-B3CBF2F9E756}"/>
                      </a:ext>
                    </a:extLst>
                  </p:cNvPr>
                  <p:cNvSpPr/>
                  <p:nvPr/>
                </p:nvSpPr>
                <p:spPr>
                  <a:xfrm>
                    <a:off x="3357565" y="4500569"/>
                    <a:ext cx="785819" cy="785819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hangingPunct="1">
                      <a:defRPr/>
                    </a:pPr>
                    <a:endParaRPr lang="es-ES"/>
                  </a:p>
                </p:txBody>
              </p:sp>
              <p:sp>
                <p:nvSpPr>
                  <p:cNvPr id="6192" name="20 CuadroTexto">
                    <a:extLst>
                      <a:ext uri="{FF2B5EF4-FFF2-40B4-BE49-F238E27FC236}">
                        <a16:creationId xmlns:a16="http://schemas.microsoft.com/office/drawing/2014/main" id="{6AF48FDE-B163-4F9B-7212-22FD068F1E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71868" y="4572008"/>
                    <a:ext cx="642942" cy="5847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s-ES" altLang="es-ES"/>
                      <a:t>3</a:t>
                    </a:r>
                  </a:p>
                </p:txBody>
              </p:sp>
            </p:grpSp>
          </p:grpSp>
          <p:grpSp>
            <p:nvGrpSpPr>
              <p:cNvPr id="6169" name="51 Grupo">
                <a:extLst>
                  <a:ext uri="{FF2B5EF4-FFF2-40B4-BE49-F238E27FC236}">
                    <a16:creationId xmlns:a16="http://schemas.microsoft.com/office/drawing/2014/main" id="{C5680371-4EB6-92AF-E883-957837911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63925" y="1714500"/>
                <a:ext cx="3965575" cy="2465388"/>
                <a:chOff x="3463925" y="1714500"/>
                <a:chExt cx="3965575" cy="2465388"/>
              </a:xfrm>
            </p:grpSpPr>
            <p:cxnSp>
              <p:nvCxnSpPr>
                <p:cNvPr id="22" name="21 Conector recto">
                  <a:extLst>
                    <a:ext uri="{FF2B5EF4-FFF2-40B4-BE49-F238E27FC236}">
                      <a16:creationId xmlns:a16="http://schemas.microsoft.com/office/drawing/2014/main" id="{7A3833B3-C8A6-4032-5BF6-A9C39F39D5F6}"/>
                    </a:ext>
                  </a:extLst>
                </p:cNvPr>
                <p:cNvCxnSpPr/>
                <p:nvPr/>
              </p:nvCxnSpPr>
              <p:spPr>
                <a:xfrm flipV="1">
                  <a:off x="3857636" y="1785938"/>
                  <a:ext cx="1214438" cy="40005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23 Conector recto">
                  <a:extLst>
                    <a:ext uri="{FF2B5EF4-FFF2-40B4-BE49-F238E27FC236}">
                      <a16:creationId xmlns:a16="http://schemas.microsoft.com/office/drawing/2014/main" id="{67CCBF1C-50F1-FFAA-941C-45E5DEBBD0F3}"/>
                    </a:ext>
                  </a:extLst>
                </p:cNvPr>
                <p:cNvCxnSpPr/>
                <p:nvPr/>
              </p:nvCxnSpPr>
              <p:spPr>
                <a:xfrm flipV="1">
                  <a:off x="5786449" y="3743325"/>
                  <a:ext cx="1214437" cy="40005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24 Conector recto">
                  <a:extLst>
                    <a:ext uri="{FF2B5EF4-FFF2-40B4-BE49-F238E27FC236}">
                      <a16:creationId xmlns:a16="http://schemas.microsoft.com/office/drawing/2014/main" id="{ABFEDD7C-A2B5-B4F3-321E-DC27E2CBF2E7}"/>
                    </a:ext>
                  </a:extLst>
                </p:cNvPr>
                <p:cNvCxnSpPr>
                  <a:stCxn id="17" idx="2"/>
                </p:cNvCxnSpPr>
                <p:nvPr/>
              </p:nvCxnSpPr>
              <p:spPr>
                <a:xfrm rot="10800000">
                  <a:off x="5786449" y="1714501"/>
                  <a:ext cx="1285875" cy="5349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27 Conector recto">
                  <a:extLst>
                    <a:ext uri="{FF2B5EF4-FFF2-40B4-BE49-F238E27FC236}">
                      <a16:creationId xmlns:a16="http://schemas.microsoft.com/office/drawing/2014/main" id="{9A84B85E-2D5E-F9D2-2415-C56EA4E5E84C}"/>
                    </a:ext>
                  </a:extLst>
                </p:cNvPr>
                <p:cNvCxnSpPr/>
                <p:nvPr/>
              </p:nvCxnSpPr>
              <p:spPr>
                <a:xfrm rot="10800000">
                  <a:off x="3857636" y="3786187"/>
                  <a:ext cx="1143000" cy="3937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30 Conector recto">
                  <a:extLst>
                    <a:ext uri="{FF2B5EF4-FFF2-40B4-BE49-F238E27FC236}">
                      <a16:creationId xmlns:a16="http://schemas.microsoft.com/office/drawing/2014/main" id="{29F5BED8-E192-0FF0-E214-2A5E4A2E9D6D}"/>
                    </a:ext>
                  </a:extLst>
                </p:cNvPr>
                <p:cNvCxnSpPr>
                  <a:stCxn id="5" idx="4"/>
                  <a:endCxn id="14" idx="0"/>
                </p:cNvCxnSpPr>
                <p:nvPr/>
              </p:nvCxnSpPr>
              <p:spPr>
                <a:xfrm rot="5400000">
                  <a:off x="3035311" y="3071812"/>
                  <a:ext cx="858838" cy="15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31 Conector recto">
                  <a:extLst>
                    <a:ext uri="{FF2B5EF4-FFF2-40B4-BE49-F238E27FC236}">
                      <a16:creationId xmlns:a16="http://schemas.microsoft.com/office/drawing/2014/main" id="{8316001C-A7D2-7899-BF22-DCDA50B052C6}"/>
                    </a:ext>
                  </a:extLst>
                </p:cNvPr>
                <p:cNvCxnSpPr/>
                <p:nvPr/>
              </p:nvCxnSpPr>
              <p:spPr>
                <a:xfrm rot="5400000">
                  <a:off x="7000093" y="3071018"/>
                  <a:ext cx="857250" cy="15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32 Conector recto">
                  <a:extLst>
                    <a:ext uri="{FF2B5EF4-FFF2-40B4-BE49-F238E27FC236}">
                      <a16:creationId xmlns:a16="http://schemas.microsoft.com/office/drawing/2014/main" id="{D11482EA-A7CC-A99D-E8B1-AAC7B0C9619F}"/>
                    </a:ext>
                  </a:extLst>
                </p:cNvPr>
                <p:cNvCxnSpPr>
                  <a:stCxn id="11" idx="4"/>
                  <a:endCxn id="8" idx="0"/>
                </p:cNvCxnSpPr>
                <p:nvPr/>
              </p:nvCxnSpPr>
              <p:spPr>
                <a:xfrm rot="5400000">
                  <a:off x="4499780" y="2893220"/>
                  <a:ext cx="1787524" cy="15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36 Conector recto">
                  <a:extLst>
                    <a:ext uri="{FF2B5EF4-FFF2-40B4-BE49-F238E27FC236}">
                      <a16:creationId xmlns:a16="http://schemas.microsoft.com/office/drawing/2014/main" id="{0FE01983-BC62-8FF8-3B4C-64EF60F8266A}"/>
                    </a:ext>
                  </a:extLst>
                </p:cNvPr>
                <p:cNvCxnSpPr>
                  <a:endCxn id="17" idx="3"/>
                </p:cNvCxnSpPr>
                <p:nvPr/>
              </p:nvCxnSpPr>
              <p:spPr>
                <a:xfrm flipV="1">
                  <a:off x="3786199" y="2528888"/>
                  <a:ext cx="3402012" cy="11144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38 Conector recto">
                  <a:extLst>
                    <a:ext uri="{FF2B5EF4-FFF2-40B4-BE49-F238E27FC236}">
                      <a16:creationId xmlns:a16="http://schemas.microsoft.com/office/drawing/2014/main" id="{9CCF0EE8-B81B-09D2-B2B6-85685AE7BFC9}"/>
                    </a:ext>
                  </a:extLst>
                </p:cNvPr>
                <p:cNvCxnSpPr>
                  <a:stCxn id="20" idx="1"/>
                </p:cNvCxnSpPr>
                <p:nvPr/>
              </p:nvCxnSpPr>
              <p:spPr>
                <a:xfrm rot="16200000" flipV="1">
                  <a:off x="4894274" y="1392237"/>
                  <a:ext cx="1185862" cy="325913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48 Conector recto">
                  <a:extLst>
                    <a:ext uri="{FF2B5EF4-FFF2-40B4-BE49-F238E27FC236}">
                      <a16:creationId xmlns:a16="http://schemas.microsoft.com/office/drawing/2014/main" id="{6E4C395A-A135-259C-74D6-38A2ABADE1B1}"/>
                    </a:ext>
                  </a:extLst>
                </p:cNvPr>
                <p:cNvCxnSpPr>
                  <a:stCxn id="17" idx="3"/>
                </p:cNvCxnSpPr>
                <p:nvPr/>
              </p:nvCxnSpPr>
              <p:spPr>
                <a:xfrm rot="5400000" flipH="1">
                  <a:off x="5451487" y="792163"/>
                  <a:ext cx="100012" cy="337343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50 Conector recto">
                  <a:extLst>
                    <a:ext uri="{FF2B5EF4-FFF2-40B4-BE49-F238E27FC236}">
                      <a16:creationId xmlns:a16="http://schemas.microsoft.com/office/drawing/2014/main" id="{2B15B281-312C-0335-F419-886E47E6FEDF}"/>
                    </a:ext>
                  </a:extLst>
                </p:cNvPr>
                <p:cNvCxnSpPr>
                  <a:stCxn id="20" idx="1"/>
                </p:cNvCxnSpPr>
                <p:nvPr/>
              </p:nvCxnSpPr>
              <p:spPr>
                <a:xfrm rot="16200000" flipH="1" flipV="1">
                  <a:off x="5451487" y="1949449"/>
                  <a:ext cx="0" cy="33305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55 Conector recto">
                  <a:extLst>
                    <a:ext uri="{FF2B5EF4-FFF2-40B4-BE49-F238E27FC236}">
                      <a16:creationId xmlns:a16="http://schemas.microsoft.com/office/drawing/2014/main" id="{95C01C46-8804-759B-AB69-5A59264D31B7}"/>
                    </a:ext>
                  </a:extLst>
                </p:cNvPr>
                <p:cNvCxnSpPr>
                  <a:stCxn id="8" idx="0"/>
                </p:cNvCxnSpPr>
                <p:nvPr/>
              </p:nvCxnSpPr>
              <p:spPr>
                <a:xfrm rot="16200000" flipV="1">
                  <a:off x="3947330" y="2339181"/>
                  <a:ext cx="1357311" cy="15367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57 Conector recto">
                  <a:extLst>
                    <a:ext uri="{FF2B5EF4-FFF2-40B4-BE49-F238E27FC236}">
                      <a16:creationId xmlns:a16="http://schemas.microsoft.com/office/drawing/2014/main" id="{47BE7B78-2589-B81C-EEAB-E717BB8822D3}"/>
                    </a:ext>
                  </a:extLst>
                </p:cNvPr>
                <p:cNvCxnSpPr>
                  <a:endCxn id="17" idx="3"/>
                </p:cNvCxnSpPr>
                <p:nvPr/>
              </p:nvCxnSpPr>
              <p:spPr>
                <a:xfrm flipV="1">
                  <a:off x="5394336" y="2528888"/>
                  <a:ext cx="1793875" cy="125729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59 Conector recto">
                  <a:extLst>
                    <a:ext uri="{FF2B5EF4-FFF2-40B4-BE49-F238E27FC236}">
                      <a16:creationId xmlns:a16="http://schemas.microsoft.com/office/drawing/2014/main" id="{D2A6E8CC-473C-14A4-3C05-6314A5121804}"/>
                    </a:ext>
                  </a:extLst>
                </p:cNvPr>
                <p:cNvCxnSpPr>
                  <a:stCxn id="20" idx="1"/>
                </p:cNvCxnSpPr>
                <p:nvPr/>
              </p:nvCxnSpPr>
              <p:spPr>
                <a:xfrm rot="16200000" flipV="1">
                  <a:off x="5465774" y="1963738"/>
                  <a:ext cx="1614486" cy="168751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61 Conector recto">
                  <a:extLst>
                    <a:ext uri="{FF2B5EF4-FFF2-40B4-BE49-F238E27FC236}">
                      <a16:creationId xmlns:a16="http://schemas.microsoft.com/office/drawing/2014/main" id="{8C5571E7-C317-39F7-5332-A2F32A2628F0}"/>
                    </a:ext>
                  </a:extLst>
                </p:cNvPr>
                <p:cNvCxnSpPr/>
                <p:nvPr/>
              </p:nvCxnSpPr>
              <p:spPr>
                <a:xfrm rot="5400000" flipH="1" flipV="1">
                  <a:off x="3750481" y="2035969"/>
                  <a:ext cx="1643061" cy="15716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152" name="52 Grupo">
              <a:extLst>
                <a:ext uri="{FF2B5EF4-FFF2-40B4-BE49-F238E27FC236}">
                  <a16:creationId xmlns:a16="http://schemas.microsoft.com/office/drawing/2014/main" id="{387C211B-087B-4C12-742A-792271D06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938" y="1609725"/>
              <a:ext cx="5143500" cy="2819400"/>
              <a:chOff x="2928938" y="1609725"/>
              <a:chExt cx="5143500" cy="2819400"/>
            </a:xfrm>
          </p:grpSpPr>
          <p:sp>
            <p:nvSpPr>
              <p:cNvPr id="6153" name="52 CuadroTexto">
                <a:extLst>
                  <a:ext uri="{FF2B5EF4-FFF2-40B4-BE49-F238E27FC236}">
                    <a16:creationId xmlns:a16="http://schemas.microsoft.com/office/drawing/2014/main" id="{7D97B000-57B8-C115-D937-0205E8EC3E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4813" y="1609725"/>
                <a:ext cx="642937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3</a:t>
                </a:r>
              </a:p>
            </p:txBody>
          </p:sp>
          <p:sp>
            <p:nvSpPr>
              <p:cNvPr id="6154" name="53 CuadroTexto">
                <a:extLst>
                  <a:ext uri="{FF2B5EF4-FFF2-40B4-BE49-F238E27FC236}">
                    <a16:creationId xmlns:a16="http://schemas.microsoft.com/office/drawing/2014/main" id="{8DD55CD9-A59C-D4DE-807C-5FEAC07001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9063" y="2071688"/>
                <a:ext cx="642937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10</a:t>
                </a:r>
              </a:p>
            </p:txBody>
          </p:sp>
          <p:sp>
            <p:nvSpPr>
              <p:cNvPr id="6155" name="54 CuadroTexto">
                <a:extLst>
                  <a:ext uri="{FF2B5EF4-FFF2-40B4-BE49-F238E27FC236}">
                    <a16:creationId xmlns:a16="http://schemas.microsoft.com/office/drawing/2014/main" id="{1ED36403-0C75-11B6-B1FC-E936BB81A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1938" y="2395538"/>
                <a:ext cx="642937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11</a:t>
                </a:r>
              </a:p>
            </p:txBody>
          </p:sp>
          <p:sp>
            <p:nvSpPr>
              <p:cNvPr id="6156" name="63 CuadroTexto">
                <a:extLst>
                  <a:ext uri="{FF2B5EF4-FFF2-40B4-BE49-F238E27FC236}">
                    <a16:creationId xmlns:a16="http://schemas.microsoft.com/office/drawing/2014/main" id="{30AA84AA-AE14-F732-6069-E055DF1D5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6188" y="2538413"/>
                <a:ext cx="642937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7</a:t>
                </a:r>
              </a:p>
            </p:txBody>
          </p:sp>
          <p:sp>
            <p:nvSpPr>
              <p:cNvPr id="6157" name="64 CuadroTexto">
                <a:extLst>
                  <a:ext uri="{FF2B5EF4-FFF2-40B4-BE49-F238E27FC236}">
                    <a16:creationId xmlns:a16="http://schemas.microsoft.com/office/drawing/2014/main" id="{DCD7C521-62B5-DB56-A984-FA622124F8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938" y="2895600"/>
                <a:ext cx="642937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25</a:t>
                </a:r>
              </a:p>
            </p:txBody>
          </p:sp>
          <p:sp>
            <p:nvSpPr>
              <p:cNvPr id="6158" name="65 CuadroTexto">
                <a:extLst>
                  <a:ext uri="{FF2B5EF4-FFF2-40B4-BE49-F238E27FC236}">
                    <a16:creationId xmlns:a16="http://schemas.microsoft.com/office/drawing/2014/main" id="{FE050D5E-600B-AC68-1F5E-9AAEE199D2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57938" y="1609725"/>
                <a:ext cx="642937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8</a:t>
                </a:r>
              </a:p>
            </p:txBody>
          </p:sp>
          <p:sp>
            <p:nvSpPr>
              <p:cNvPr id="6159" name="66 CuadroTexto">
                <a:extLst>
                  <a:ext uri="{FF2B5EF4-FFF2-40B4-BE49-F238E27FC236}">
                    <a16:creationId xmlns:a16="http://schemas.microsoft.com/office/drawing/2014/main" id="{34C1CAE3-5EEE-9FC1-A291-823D92D2C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2125" y="1857375"/>
                <a:ext cx="642938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12</a:t>
                </a:r>
              </a:p>
            </p:txBody>
          </p:sp>
          <p:sp>
            <p:nvSpPr>
              <p:cNvPr id="6160" name="67 CuadroTexto">
                <a:extLst>
                  <a:ext uri="{FF2B5EF4-FFF2-40B4-BE49-F238E27FC236}">
                    <a16:creationId xmlns:a16="http://schemas.microsoft.com/office/drawing/2014/main" id="{E51D8D5F-5B4F-86E3-98E2-8FDE97B13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4875" y="1857375"/>
                <a:ext cx="642938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26</a:t>
                </a:r>
              </a:p>
            </p:txBody>
          </p:sp>
          <p:sp>
            <p:nvSpPr>
              <p:cNvPr id="6161" name="68 CuadroTexto">
                <a:extLst>
                  <a:ext uri="{FF2B5EF4-FFF2-40B4-BE49-F238E27FC236}">
                    <a16:creationId xmlns:a16="http://schemas.microsoft.com/office/drawing/2014/main" id="{A9D1381C-1BBD-BC0D-4BC5-0C1D9878B7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4938" y="2009775"/>
                <a:ext cx="642937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9</a:t>
                </a:r>
              </a:p>
            </p:txBody>
          </p:sp>
          <p:sp>
            <p:nvSpPr>
              <p:cNvPr id="6162" name="69 CuadroTexto">
                <a:extLst>
                  <a:ext uri="{FF2B5EF4-FFF2-40B4-BE49-F238E27FC236}">
                    <a16:creationId xmlns:a16="http://schemas.microsoft.com/office/drawing/2014/main" id="{916E5FC8-7549-1DEE-27C1-88D7BD9A54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00" y="2895600"/>
                <a:ext cx="642938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9</a:t>
                </a:r>
              </a:p>
            </p:txBody>
          </p:sp>
          <p:sp>
            <p:nvSpPr>
              <p:cNvPr id="6163" name="70 CuadroTexto">
                <a:extLst>
                  <a:ext uri="{FF2B5EF4-FFF2-40B4-BE49-F238E27FC236}">
                    <a16:creationId xmlns:a16="http://schemas.microsoft.com/office/drawing/2014/main" id="{5FECAFED-0EB0-8049-2DF0-5718FF2876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0" y="2609850"/>
                <a:ext cx="642938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4</a:t>
                </a:r>
              </a:p>
            </p:txBody>
          </p:sp>
          <p:sp>
            <p:nvSpPr>
              <p:cNvPr id="6164" name="71 CuadroTexto">
                <a:extLst>
                  <a:ext uri="{FF2B5EF4-FFF2-40B4-BE49-F238E27FC236}">
                    <a16:creationId xmlns:a16="http://schemas.microsoft.com/office/drawing/2014/main" id="{93E89896-1C6D-B68E-7DB1-00BFC5404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6500" y="2500313"/>
                <a:ext cx="642938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20</a:t>
                </a:r>
              </a:p>
            </p:txBody>
          </p:sp>
          <p:sp>
            <p:nvSpPr>
              <p:cNvPr id="6165" name="72 CuadroTexto">
                <a:extLst>
                  <a:ext uri="{FF2B5EF4-FFF2-40B4-BE49-F238E27FC236}">
                    <a16:creationId xmlns:a16="http://schemas.microsoft.com/office/drawing/2014/main" id="{F95A107A-A6B0-1D93-A271-DE3B1B7D7E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15063" y="3895725"/>
                <a:ext cx="642937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5</a:t>
                </a:r>
              </a:p>
            </p:txBody>
          </p:sp>
          <p:sp>
            <p:nvSpPr>
              <p:cNvPr id="6166" name="73 CuadroTexto">
                <a:extLst>
                  <a:ext uri="{FF2B5EF4-FFF2-40B4-BE49-F238E27FC236}">
                    <a16:creationId xmlns:a16="http://schemas.microsoft.com/office/drawing/2014/main" id="{88247438-F6DC-047C-C735-F98B76DD63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1938" y="3967163"/>
                <a:ext cx="642937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18</a:t>
                </a:r>
              </a:p>
            </p:txBody>
          </p:sp>
          <p:sp>
            <p:nvSpPr>
              <p:cNvPr id="6167" name="74 CuadroTexto">
                <a:extLst>
                  <a:ext uri="{FF2B5EF4-FFF2-40B4-BE49-F238E27FC236}">
                    <a16:creationId xmlns:a16="http://schemas.microsoft.com/office/drawing/2014/main" id="{BD426AAE-B4BF-4637-63EF-02DFAD2E37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0750" y="3429000"/>
                <a:ext cx="642938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altLang="es-ES" sz="2400"/>
                  <a:t>15</a:t>
                </a:r>
              </a:p>
            </p:txBody>
          </p:sp>
        </p:grpSp>
      </p:grpSp>
      <p:sp>
        <p:nvSpPr>
          <p:cNvPr id="2" name="Text Box 10">
            <a:extLst>
              <a:ext uri="{FF2B5EF4-FFF2-40B4-BE49-F238E27FC236}">
                <a16:creationId xmlns:a16="http://schemas.microsoft.com/office/drawing/2014/main" id="{13AB90EF-F418-B488-47D2-DF9A30FE5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45125"/>
            <a:ext cx="3678238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000"/>
              <a:t>Véanse cicloHamiltonianoProb y cicloHamiltonianoIterativo en clase CicloHamiltoniano</a:t>
            </a:r>
            <a:endParaRPr lang="es-ES" altLang="es-E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1 Título">
            <a:extLst>
              <a:ext uri="{FF2B5EF4-FFF2-40B4-BE49-F238E27FC236}">
                <a16:creationId xmlns:a16="http://schemas.microsoft.com/office/drawing/2014/main" id="{C072B305-F0C2-A8BF-1A86-ED7A3F9C3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Recocido simulado</a:t>
            </a:r>
          </a:p>
        </p:txBody>
      </p:sp>
      <p:sp>
        <p:nvSpPr>
          <p:cNvPr id="7171" name="2 Marcador de contenido">
            <a:extLst>
              <a:ext uri="{FF2B5EF4-FFF2-40B4-BE49-F238E27FC236}">
                <a16:creationId xmlns:a16="http://schemas.microsoft.com/office/drawing/2014/main" id="{2876DAE2-F6CD-BD39-D742-E7BA48B877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1625"/>
            <a:ext cx="8229600" cy="5043488"/>
          </a:xfrm>
        </p:spPr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Se llama “recocido” por similitud con un tratamiento térmico para recuperar la estructura interna de un metal o un cristal: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El recocido consiste en calentar el material en un horno hasta alcanzar cierta temperatura, para después dejar que se enfríe lentamente hasta alcanzar la temperatura ambiente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>
            <a:extLst>
              <a:ext uri="{FF2B5EF4-FFF2-40B4-BE49-F238E27FC236}">
                <a16:creationId xmlns:a16="http://schemas.microsoft.com/office/drawing/2014/main" id="{FF98EDB8-5AB8-187E-94BB-321020B79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Recocido simulado</a:t>
            </a:r>
          </a:p>
        </p:txBody>
      </p:sp>
      <p:pic>
        <p:nvPicPr>
          <p:cNvPr id="8195" name="Imagen 2" descr="Diagrama&#10;&#10;Descripción generada automáticamente">
            <a:extLst>
              <a:ext uri="{FF2B5EF4-FFF2-40B4-BE49-F238E27FC236}">
                <a16:creationId xmlns:a16="http://schemas.microsoft.com/office/drawing/2014/main" id="{DB6E58D6-3C28-79A5-9117-1679E4318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725144"/>
            <a:ext cx="2255837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2 Marcador de contenido">
            <a:extLst>
              <a:ext uri="{FF2B5EF4-FFF2-40B4-BE49-F238E27FC236}">
                <a16:creationId xmlns:a16="http://schemas.microsoft.com/office/drawing/2014/main" id="{307B54A8-F608-A8A5-7102-D28029C644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1625"/>
            <a:ext cx="8229600" cy="5043488"/>
          </a:xfrm>
        </p:spPr>
        <p:txBody>
          <a:bodyPr>
            <a:normAutofit lnSpcReduction="10000"/>
          </a:bodyPr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Cambios respecto a los algoritmos de ascenso: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La condición de terminación no es que no se encuentren mejoras locales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La aceptación de un vecino no sólo depende de que sea mejor (podría ser peor) sino de la temperatura:</a:t>
            </a:r>
          </a:p>
          <a:p>
            <a:pPr lvl="2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Se acepta un nuevo vecino con probabilidad</a:t>
            </a:r>
          </a:p>
          <a:p>
            <a:pPr lvl="2"/>
            <a:endParaRPr lang="es-ES" alt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Para un problema de minimización, se invierte la resta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1 Título">
            <a:extLst>
              <a:ext uri="{FF2B5EF4-FFF2-40B4-BE49-F238E27FC236}">
                <a16:creationId xmlns:a16="http://schemas.microsoft.com/office/drawing/2014/main" id="{7C338F00-9750-F7E8-4BCC-39691F07C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Ascenso estocástico</a:t>
            </a:r>
          </a:p>
        </p:txBody>
      </p:sp>
      <p:pic>
        <p:nvPicPr>
          <p:cNvPr id="9219" name="Imagen 2" descr="Diagrama&#10;&#10;Descripción generada automáticamente">
            <a:extLst>
              <a:ext uri="{FF2B5EF4-FFF2-40B4-BE49-F238E27FC236}">
                <a16:creationId xmlns:a16="http://schemas.microsoft.com/office/drawing/2014/main" id="{A6BCDC8F-9057-5B72-BF19-CA8E09B4C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667" y="3068638"/>
            <a:ext cx="2255837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2 Marcador de contenido">
            <a:extLst>
              <a:ext uri="{FF2B5EF4-FFF2-40B4-BE49-F238E27FC236}">
                <a16:creationId xmlns:a16="http://schemas.microsoft.com/office/drawing/2014/main" id="{79A8F520-AC6C-66AA-517E-C21204CA5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1625"/>
            <a:ext cx="8291264" cy="5043488"/>
          </a:xfrm>
        </p:spPr>
        <p:txBody>
          <a:bodyPr>
            <a:normAutofit/>
          </a:bodyPr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Versión simplificada del recocido simulado, sin variaciones de la temperatura 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Influencia de 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 en la aceptación de un nuevo vecino (maximización):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Cuanto mayor es 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, menor es la importancia de la mejora:</a:t>
            </a:r>
          </a:p>
          <a:p>
            <a:pPr lvl="2"/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=1:                     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0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, luego 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1, es decir, se acepta</a:t>
            </a:r>
          </a:p>
          <a:p>
            <a:pPr lvl="2"/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 muy grande:                     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1, luego 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0’5, es decir, se acepta aleatoriamente</a:t>
            </a:r>
            <a:endParaRPr lang="es-ES" alt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2DAA9446-F743-5AE4-070C-9A55541D0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6148388"/>
            <a:ext cx="4321175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000"/>
              <a:t>Véase cicloHamiltonianoEstocastico en clase CicloHamiltoniano</a:t>
            </a:r>
            <a:endParaRPr lang="es-ES" altLang="es-ES" sz="2000">
              <a:solidFill>
                <a:srgbClr val="FF0000"/>
              </a:solidFill>
            </a:endParaRPr>
          </a:p>
        </p:txBody>
      </p:sp>
      <p:pic>
        <p:nvPicPr>
          <p:cNvPr id="9222" name="Imagen 7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90730954-B95C-4B38-8968-0E4269E79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4652963"/>
            <a:ext cx="17272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Imagen 8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BBB94080-5ADB-82DE-42A6-CDD4F9332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5445125"/>
            <a:ext cx="17272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0C8466B-7E43-7CAA-97BD-CFA582BA1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Ascenso estocástico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DCEEEE6-CE2B-9B03-8DFD-229ABACD301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4925" y="1600200"/>
            <a:ext cx="4460875" cy="4525963"/>
          </a:xfrm>
        </p:spPr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Algoritmo de ascenso:</a:t>
            </a:r>
          </a:p>
          <a:p>
            <a:pPr marL="457200" lvl="1" indent="0" eaLnBrk="1" hangingPunct="1">
              <a:buFontTx/>
              <a:buNone/>
            </a:pP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T’ ascenso (…)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T’ sol = &lt;&lt;crea una 1ª sol&gt;&gt;;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mejora = true;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do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&lt;&lt;selecciona punto vecino&gt;&gt;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(valor(vecino) &gt; valor(sol))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sol = vecino;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lang="es-ES" alt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mejora = false;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}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(mejora);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sol;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0244" name="Marcador de contenido 1">
            <a:extLst>
              <a:ext uri="{FF2B5EF4-FFF2-40B4-BE49-F238E27FC236}">
                <a16:creationId xmlns:a16="http://schemas.microsoft.com/office/drawing/2014/main" id="{49620FBC-0DDD-ADC3-45CC-3ACC99293C3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648200" y="1600200"/>
            <a:ext cx="4460875" cy="4525963"/>
          </a:xfrm>
        </p:spPr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Ascenso estocástico (recocido simulado simplificado):</a:t>
            </a:r>
          </a:p>
          <a:p>
            <a:pPr marL="457200" lvl="1" indent="0" eaLnBrk="1" hangingPunct="1">
              <a:buFontTx/>
              <a:buNone/>
            </a:pP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T’ ascenso (…)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T’ sol = &lt;&lt;crea una 1ª sol&gt;&gt;;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(i=0; i&lt;N; i++)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&lt;&lt;selecciona punto vecino&gt;&gt;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&lt;&lt;sol = vecino con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probab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endParaRPr lang="es-ES" alt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&gt;&gt;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}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sol;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pic>
        <p:nvPicPr>
          <p:cNvPr id="10245" name="Imagen 3" descr="Diagrama&#10;&#10;Descripción generada automáticamente">
            <a:extLst>
              <a:ext uri="{FF2B5EF4-FFF2-40B4-BE49-F238E27FC236}">
                <a16:creationId xmlns:a16="http://schemas.microsoft.com/office/drawing/2014/main" id="{9AEF0897-E85A-1BE7-BE01-99046D14F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4508500"/>
            <a:ext cx="2255838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Título">
            <a:extLst>
              <a:ext uri="{FF2B5EF4-FFF2-40B4-BE49-F238E27FC236}">
                <a16:creationId xmlns:a16="http://schemas.microsoft.com/office/drawing/2014/main" id="{EFE1C69E-566E-D412-6DDA-FE7DF3CF6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Recocido simulado</a:t>
            </a:r>
          </a:p>
        </p:txBody>
      </p:sp>
      <p:sp>
        <p:nvSpPr>
          <p:cNvPr id="11267" name="2 Marcador de contenido">
            <a:extLst>
              <a:ext uri="{FF2B5EF4-FFF2-40B4-BE49-F238E27FC236}">
                <a16:creationId xmlns:a16="http://schemas.microsoft.com/office/drawing/2014/main" id="{8081B488-8087-6B7E-4ED8-89B7E7482B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1625"/>
            <a:ext cx="8229600" cy="5043488"/>
          </a:xfrm>
        </p:spPr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En recocido simulado: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La temperatura </a:t>
            </a:r>
            <a:r>
              <a:rPr lang="es-ES" altLang="es-ES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 varía, comenzando con valores altos (búsqueda aleatoria) y disminuye gradualmente (terminando siendo una búsqueda de ascenso)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Siempre se aceptan las nuevas soluciones que son mejores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Las decisiones sobre los aspectos variables del algoritmo pueden ser muy variadas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0B3F4D6-D205-83B9-18D3-6563B920F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Recocido simulado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4BBE2E-4FBD-946B-ED32-B39B783E50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4925" y="1411560"/>
            <a:ext cx="4460875" cy="4525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Recocido simulado simplificado:</a:t>
            </a:r>
          </a:p>
          <a:p>
            <a:pPr marL="457200" lvl="1" indent="0" eaLnBrk="1" hangingPunct="1">
              <a:buFontTx/>
              <a:buNone/>
            </a:pP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T’ ascenso (…)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T’ sol = &lt;&lt;crea una 1ª sol&gt;&gt;;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(i=0; i&lt;N; i++)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&lt;&lt;selecciona punto vecino&gt;&gt;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(valor(vecino) &gt; valor(sol))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sol = vecino;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lang="es-ES" alt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&lt;&lt;sol = vecino con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probab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endParaRPr lang="es-ES" alt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&gt;&gt;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}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sol;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2292" name="Marcador de contenido 1">
            <a:extLst>
              <a:ext uri="{FF2B5EF4-FFF2-40B4-BE49-F238E27FC236}">
                <a16:creationId xmlns:a16="http://schemas.microsoft.com/office/drawing/2014/main" id="{80D730EA-02CD-C54B-11E2-2F70CDBB827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427538" y="1411560"/>
            <a:ext cx="4681537" cy="5257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s-ES" altLang="es-ES" sz="2400" dirty="0">
                <a:latin typeface="Arial" panose="020B0604020202020204" pitchFamily="34" charset="0"/>
                <a:cs typeface="Arial" panose="020B0604020202020204" pitchFamily="34" charset="0"/>
              </a:rPr>
              <a:t>Recocido simulado:</a:t>
            </a:r>
          </a:p>
          <a:p>
            <a:pPr marL="457200" lvl="1" indent="0" eaLnBrk="1" hangingPunct="1">
              <a:buFontTx/>
              <a:buNone/>
            </a:pP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T’ ascenso (…) {</a:t>
            </a:r>
          </a:p>
          <a:p>
            <a:pPr marL="457200" lvl="1" indent="0" eaLnBrk="1" hangingPunct="1"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t = </a:t>
            </a:r>
            <a:r>
              <a:rPr lang="es-ES" altLang="es-E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altLang="es-ES" sz="18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T’ sol = &lt;&lt;crea una 1ª sol&gt;&gt;;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do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(i=0; i&lt;N(t); i++) {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   &lt;&lt;selecciona punto vecino&gt;&gt;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(valor(vecino) &gt; valor(sol))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sol = vecino;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lang="es-ES" alt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&lt;&lt;sol = vecino con </a:t>
            </a: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probab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endParaRPr lang="es-ES" alt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&gt;&gt;   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}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   &lt;&lt;disminuye t&gt;&gt;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   } </a:t>
            </a: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(t&gt;</a:t>
            </a:r>
            <a:r>
              <a:rPr lang="es-ES" altLang="es-E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altLang="es-ES" sz="18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sol;</a:t>
            </a:r>
          </a:p>
          <a:p>
            <a:pPr marL="457200" lvl="1" indent="0" eaLnBrk="1" hangingPunct="1">
              <a:spcBef>
                <a:spcPct val="0"/>
              </a:spcBef>
              <a:buFontTx/>
              <a:buNone/>
            </a:pPr>
            <a:r>
              <a:rPr lang="es-ES" altLang="es-ES" sz="1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s-ES" alt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3" name="Imagen 3" descr="Diagrama&#10;&#10;Descripción generada automáticamente">
            <a:extLst>
              <a:ext uri="{FF2B5EF4-FFF2-40B4-BE49-F238E27FC236}">
                <a16:creationId xmlns:a16="http://schemas.microsoft.com/office/drawing/2014/main" id="{CCF001C3-CD37-672E-861C-FB9C2B747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963" y="4365103"/>
            <a:ext cx="2255837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Imagen 2" descr="Diagrama&#10;&#10;Descripción generada automáticamente">
            <a:extLst>
              <a:ext uri="{FF2B5EF4-FFF2-40B4-BE49-F238E27FC236}">
                <a16:creationId xmlns:a16="http://schemas.microsoft.com/office/drawing/2014/main" id="{6600A622-905E-65FF-64E6-61D44B95C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365104"/>
            <a:ext cx="2255837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Título">
            <a:extLst>
              <a:ext uri="{FF2B5EF4-FFF2-40B4-BE49-F238E27FC236}">
                <a16:creationId xmlns:a16="http://schemas.microsoft.com/office/drawing/2014/main" id="{F0D1CC2B-ED74-D9F2-F854-7E8E0F515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Problema del viajante</a:t>
            </a:r>
          </a:p>
        </p:txBody>
      </p:sp>
      <p:sp>
        <p:nvSpPr>
          <p:cNvPr id="13315" name="2 Marcador de contenido">
            <a:extLst>
              <a:ext uri="{FF2B5EF4-FFF2-40B4-BE49-F238E27FC236}">
                <a16:creationId xmlns:a16="http://schemas.microsoft.com/office/drawing/2014/main" id="{C81C5748-094A-3C46-C97F-B6E27AD2A2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1625"/>
            <a:ext cx="8229600" cy="5043488"/>
          </a:xfrm>
        </p:spPr>
        <p:txBody>
          <a:bodyPr/>
          <a:lstStyle/>
          <a:p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Implementación sencilla para el problema del viajante: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El bucle ‘</a:t>
            </a:r>
            <a:r>
              <a:rPr lang="es-ES" altLang="es-ES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’ se ejecuta siempre un número mínimo de veces</a:t>
            </a:r>
          </a:p>
          <a:p>
            <a:pPr lvl="1"/>
            <a:r>
              <a:rPr lang="es-ES" altLang="es-ES" dirty="0">
                <a:latin typeface="Arial" panose="020B0604020202020204" pitchFamily="34" charset="0"/>
                <a:cs typeface="Arial" panose="020B0604020202020204" pitchFamily="34" charset="0"/>
              </a:rPr>
              <a:t>La temperatura va disminuyendo a la mitad</a:t>
            </a:r>
          </a:p>
          <a:p>
            <a:pPr lvl="1"/>
            <a:endParaRPr lang="es-ES" altLang="es-ES" dirty="0">
              <a:cs typeface="Arial" panose="020B0604020202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CA23589F-52DE-73BF-655A-274BEBE4C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4725144"/>
            <a:ext cx="403860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es-ES" sz="2000"/>
              <a:t>Véase cicloHamiltonianoRecocido en clase CicloHamiltoniano</a:t>
            </a:r>
            <a:endParaRPr lang="es-ES" altLang="es-E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16918</TotalTime>
  <Words>3575</Words>
  <Application>Microsoft Office PowerPoint</Application>
  <PresentationFormat>Presentación en pantalla (4:3)</PresentationFormat>
  <Paragraphs>537</Paragraphs>
  <Slides>53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59" baseType="lpstr">
      <vt:lpstr>Arial</vt:lpstr>
      <vt:lpstr>Bodoni MT</vt:lpstr>
      <vt:lpstr>Calibri</vt:lpstr>
      <vt:lpstr>Times New Roman</vt:lpstr>
      <vt:lpstr>Tema de Office</vt:lpstr>
      <vt:lpstr>Ecuación</vt:lpstr>
      <vt:lpstr>Algoritmos probabilistas</vt:lpstr>
      <vt:lpstr>Algoritmos probabilistas</vt:lpstr>
      <vt:lpstr>Algoritmos probabilistas</vt:lpstr>
      <vt:lpstr>Algoritmos probabilistas</vt:lpstr>
      <vt:lpstr>Números aleatorios</vt:lpstr>
      <vt:lpstr>Números aleatorios</vt:lpstr>
      <vt:lpstr>Coloreado de un grafo</vt:lpstr>
      <vt:lpstr>Coloreado de un grafo</vt:lpstr>
      <vt:lpstr>Números aleatorios</vt:lpstr>
      <vt:lpstr>Números aleatorios</vt:lpstr>
      <vt:lpstr>Números aleatorios</vt:lpstr>
      <vt:lpstr>Números aleatorios</vt:lpstr>
      <vt:lpstr>Números aleatorios</vt:lpstr>
      <vt:lpstr>Algoritmos probabilistas</vt:lpstr>
      <vt:lpstr>Algoritmos probabilistas</vt:lpstr>
      <vt:lpstr>Algoritmos numéricos</vt:lpstr>
      <vt:lpstr>Algoritmos numéricos</vt:lpstr>
      <vt:lpstr>Algoritmos numéricos</vt:lpstr>
      <vt:lpstr>Algoritmos de Monte Carlo</vt:lpstr>
      <vt:lpstr>Algoritmos de Monte Carlo</vt:lpstr>
      <vt:lpstr>Algoritmos de Monte Carlo</vt:lpstr>
      <vt:lpstr>Algoritmos de Las Vegas</vt:lpstr>
      <vt:lpstr>N reinas</vt:lpstr>
      <vt:lpstr>N reinas</vt:lpstr>
      <vt:lpstr>N reinas</vt:lpstr>
      <vt:lpstr>N reinas</vt:lpstr>
      <vt:lpstr>Rendimiento de los algoritmos probabilistas</vt:lpstr>
      <vt:lpstr>Rendimiento de los algoritmos de Las Vegas</vt:lpstr>
      <vt:lpstr>N reinas</vt:lpstr>
      <vt:lpstr>N reinas</vt:lpstr>
      <vt:lpstr>N reinas</vt:lpstr>
      <vt:lpstr>N reinas</vt:lpstr>
      <vt:lpstr>Ordenación rápida</vt:lpstr>
      <vt:lpstr>Ordenación rápida</vt:lpstr>
      <vt:lpstr>Ordenación rápida</vt:lpstr>
      <vt:lpstr>Ordenación rápida</vt:lpstr>
      <vt:lpstr>Ordenación rápida</vt:lpstr>
      <vt:lpstr>k-ésimo elemento de un vector</vt:lpstr>
      <vt:lpstr>Problemas de optimización</vt:lpstr>
      <vt:lpstr>Problema del equilibrado de carga</vt:lpstr>
      <vt:lpstr>Problema del equilibrado de carga</vt:lpstr>
      <vt:lpstr>Métodos para escapar de óptimos locales</vt:lpstr>
      <vt:lpstr>Algoritmos de búsqueda local</vt:lpstr>
      <vt:lpstr>Algoritmos probabilistas de búsqueda local</vt:lpstr>
      <vt:lpstr>Problema del viajante</vt:lpstr>
      <vt:lpstr>Problema del viajante</vt:lpstr>
      <vt:lpstr>Recocido simulado</vt:lpstr>
      <vt:lpstr>Recocido simulado</vt:lpstr>
      <vt:lpstr>Ascenso estocástico</vt:lpstr>
      <vt:lpstr>Ascenso estocástico</vt:lpstr>
      <vt:lpstr>Recocido simulado</vt:lpstr>
      <vt:lpstr>Recocido simulado</vt:lpstr>
      <vt:lpstr>Problema del viajante</vt:lpstr>
    </vt:vector>
  </TitlesOfParts>
  <Company>Universidad Rey Juan Carlos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probabilistas</dc:title>
  <dc:creator>Ángel Velázquez</dc:creator>
  <cp:lastModifiedBy>Ángel Velázquez Iturbide</cp:lastModifiedBy>
  <cp:revision>257</cp:revision>
  <dcterms:created xsi:type="dcterms:W3CDTF">2014-09-16T18:19:39Z</dcterms:created>
  <dcterms:modified xsi:type="dcterms:W3CDTF">2025-12-19T13:32:10Z</dcterms:modified>
</cp:coreProperties>
</file>